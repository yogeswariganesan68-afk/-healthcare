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0"/>
  </p:notesMasterIdLst>
  <p:sldIdLst>
    <p:sldId id="257" r:id="rId2"/>
    <p:sldId id="259" r:id="rId3"/>
    <p:sldId id="260" r:id="rId4"/>
    <p:sldId id="266" r:id="rId5"/>
    <p:sldId id="261" r:id="rId6"/>
    <p:sldId id="267" r:id="rId7"/>
    <p:sldId id="270" r:id="rId8"/>
    <p:sldId id="27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95" autoAdjust="0"/>
    <p:restoredTop sz="94602"/>
  </p:normalViewPr>
  <p:slideViewPr>
    <p:cSldViewPr snapToGrid="0" snapToObjects="1">
      <p:cViewPr varScale="1">
        <p:scale>
          <a:sx n="81" d="100"/>
          <a:sy n="81" d="100"/>
        </p:scale>
        <p:origin x="59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Regular"/>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Regular"/>
              </a:defRPr>
            </a:lvl1pPr>
          </a:lstStyle>
          <a:p>
            <a:fld id="{0239D73C-AF14-7643-8BC7-209F4FB10DDF}" type="datetimeFigureOut">
              <a:rPr lang="en-US" smtClean="0"/>
              <a:t>9/4/2026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Regular"/>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Regular"/>
              </a:defRPr>
            </a:lvl1pPr>
          </a:lstStyle>
          <a:p>
            <a:fld id="{F52A25F9-16D3-E64A-8639-7B020C319E7B}"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Regular"/>
        <a:ea typeface="+mn-ea"/>
        <a:cs typeface="+mn-cs"/>
      </a:defRPr>
    </a:lvl1pPr>
    <a:lvl2pPr marL="457200" algn="l" defTabSz="914400" rtl="0" eaLnBrk="1" latinLnBrk="0" hangingPunct="1">
      <a:defRPr sz="1200" b="0" i="0" kern="1200">
        <a:solidFill>
          <a:schemeClr val="tx1"/>
        </a:solidFill>
        <a:latin typeface="Arial Regular"/>
        <a:ea typeface="+mn-ea"/>
        <a:cs typeface="+mn-cs"/>
      </a:defRPr>
    </a:lvl2pPr>
    <a:lvl3pPr marL="914400" algn="l" defTabSz="914400" rtl="0" eaLnBrk="1" latinLnBrk="0" hangingPunct="1">
      <a:defRPr sz="1200" b="0" i="0" kern="1200">
        <a:solidFill>
          <a:schemeClr val="tx1"/>
        </a:solidFill>
        <a:latin typeface="Arial Regular"/>
        <a:ea typeface="+mn-ea"/>
        <a:cs typeface="+mn-cs"/>
      </a:defRPr>
    </a:lvl3pPr>
    <a:lvl4pPr marL="1371600" algn="l" defTabSz="914400" rtl="0" eaLnBrk="1" latinLnBrk="0" hangingPunct="1">
      <a:defRPr sz="1200" b="0" i="0" kern="1200">
        <a:solidFill>
          <a:schemeClr val="tx1"/>
        </a:solidFill>
        <a:latin typeface="Arial Regular"/>
        <a:ea typeface="+mn-ea"/>
        <a:cs typeface="+mn-cs"/>
      </a:defRPr>
    </a:lvl4pPr>
    <a:lvl5pPr marL="1828800" algn="l" defTabSz="914400" rtl="0" eaLnBrk="1" latinLnBrk="0" hangingPunct="1">
      <a:defRPr sz="1200" b="0" i="0" kern="1200">
        <a:solidFill>
          <a:schemeClr val="tx1"/>
        </a:solidFill>
        <a:latin typeface="Arial Regular"/>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5"/>
          <p:cNvSpPr>
            <a:spLocks noGrp="1"/>
          </p:cNvSpPr>
          <p:nvPr>
            <p:ph type="body" sz="quarter" idx="10" hasCustomPrompt="1"/>
          </p:nvPr>
        </p:nvSpPr>
        <p:spPr>
          <a:xfrm>
            <a:off x="658368" y="3968496"/>
            <a:ext cx="6638544" cy="1650381"/>
          </a:xfrm>
          <a:prstGeom prst="rect">
            <a:avLst/>
          </a:prstGeom>
        </p:spPr>
        <p:txBody>
          <a:bodyPr lIns="0">
            <a:noAutofit/>
          </a:bodyPr>
          <a:lstStyle>
            <a:lvl1pPr marL="0" indent="0">
              <a:buNone/>
              <a:defRPr sz="2800" b="0" i="0">
                <a:solidFill>
                  <a:schemeClr val="bg1"/>
                </a:solidFill>
                <a:latin typeface="Georgia" panose="02040502050405020303" pitchFamily="18" charset="0"/>
                <a:ea typeface="Georgia" panose="02040502050405020303" pitchFamily="18" charset="0"/>
                <a:cs typeface="Georgia" panose="02040502050405020303" pitchFamily="18" charset="0"/>
              </a:defRPr>
            </a:lvl1pPr>
          </a:lstStyle>
          <a:p>
            <a:pPr lvl="0"/>
            <a:r>
              <a:rPr lang="en-US" dirty="0"/>
              <a:t>Sub-topic</a:t>
            </a:r>
          </a:p>
        </p:txBody>
      </p:sp>
      <p:sp>
        <p:nvSpPr>
          <p:cNvPr id="14" name="Title 1"/>
          <p:cNvSpPr>
            <a:spLocks noGrp="1"/>
          </p:cNvSpPr>
          <p:nvPr>
            <p:ph type="ctrTitle" hasCustomPrompt="1"/>
          </p:nvPr>
        </p:nvSpPr>
        <p:spPr>
          <a:xfrm>
            <a:off x="658368" y="1490472"/>
            <a:ext cx="6638544" cy="2386584"/>
          </a:xfrm>
          <a:prstGeom prst="rect">
            <a:avLst/>
          </a:prstGeom>
          <a:ln>
            <a:noFill/>
          </a:ln>
        </p:spPr>
        <p:txBody>
          <a:bodyPr lIns="0" anchor="b">
            <a:noAutofit/>
          </a:bodyPr>
          <a:lstStyle>
            <a:lvl1pPr algn="l">
              <a:lnSpc>
                <a:spcPts val="5800"/>
              </a:lnSpc>
              <a:defRPr sz="6000" b="1" i="0" cap="all" baseline="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Presentation</a:t>
            </a:r>
            <a:br>
              <a:rPr lang="en-US" dirty="0"/>
            </a:br>
            <a:r>
              <a:rPr lang="en-US" dirty="0"/>
              <a:t>Title</a:t>
            </a:r>
          </a:p>
        </p:txBody>
      </p:sp>
      <p:pic>
        <p:nvPicPr>
          <p:cNvPr id="8" name="Picture 7" descr="University at Buffalo, The State University of New York 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0400" y="6041226"/>
            <a:ext cx="4800600" cy="35602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ctrTitle" hasCustomPrompt="1"/>
          </p:nvPr>
        </p:nvSpPr>
        <p:spPr>
          <a:xfrm>
            <a:off x="658368" y="1490663"/>
            <a:ext cx="6638544" cy="2387600"/>
          </a:xfrm>
          <a:prstGeom prst="rect">
            <a:avLst/>
          </a:prstGeom>
          <a:ln>
            <a:noFill/>
          </a:ln>
        </p:spPr>
        <p:txBody>
          <a:bodyPr lIns="0" anchor="b">
            <a:noAutofit/>
          </a:bodyPr>
          <a:lstStyle>
            <a:lvl1pPr algn="l">
              <a:lnSpc>
                <a:spcPts val="5800"/>
              </a:lnSpc>
              <a:defRPr sz="6000" b="1" i="0" cap="all" baseline="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DIVIDER SLIDE</a:t>
            </a:r>
          </a:p>
        </p:txBody>
      </p:sp>
      <p:sp>
        <p:nvSpPr>
          <p:cNvPr id="6" name="Subtitle 2"/>
          <p:cNvSpPr>
            <a:spLocks noGrp="1"/>
          </p:cNvSpPr>
          <p:nvPr>
            <p:ph type="subTitle" idx="1" hasCustomPrompt="1"/>
          </p:nvPr>
        </p:nvSpPr>
        <p:spPr>
          <a:xfrm>
            <a:off x="658368" y="3970337"/>
            <a:ext cx="6638544" cy="2212976"/>
          </a:xfrm>
          <a:prstGeom prst="rect">
            <a:avLst/>
          </a:prstGeom>
          <a:ln>
            <a:noFill/>
          </a:ln>
        </p:spPr>
        <p:txBody>
          <a:bodyPr lIns="0">
            <a:noAutofit/>
          </a:bodyPr>
          <a:lstStyle>
            <a:lvl1pPr marL="0" indent="0" algn="l">
              <a:buNone/>
              <a:defRPr sz="2800" b="0" baseline="0">
                <a:solidFill>
                  <a:schemeClr val="bg1"/>
                </a:solidFill>
                <a:latin typeface="Georgia" panose="02040502050405020303" pitchFamily="18" charset="0"/>
                <a:ea typeface="Georgia" panose="02040502050405020303" pitchFamily="18" charset="0"/>
                <a:cs typeface="Georgia" panose="02040502050405020303"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title</a:t>
            </a:r>
          </a:p>
        </p:txBody>
      </p:sp>
      <p:pic>
        <p:nvPicPr>
          <p:cNvPr id="7" name="Picture 6" descr="University at Buffalo, The State University of New York logo"/>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a:xfrm>
            <a:off x="566928" y="1499616"/>
            <a:ext cx="6951472" cy="590931"/>
          </a:xfrm>
        </p:spPr>
        <p:txBody>
          <a:bodyPr/>
          <a:lstStyle/>
          <a:p>
            <a:r>
              <a:rPr lang="en-US" dirty="0"/>
              <a:t>Click to edit Master title style</a:t>
            </a:r>
          </a:p>
        </p:txBody>
      </p:sp>
      <p:sp>
        <p:nvSpPr>
          <p:cNvPr id="3" name="Content Placeholder 2"/>
          <p:cNvSpPr>
            <a:spLocks noGrp="1"/>
          </p:cNvSpPr>
          <p:nvPr>
            <p:ph idx="1"/>
          </p:nvPr>
        </p:nvSpPr>
        <p:spPr>
          <a:xfrm>
            <a:off x="566928" y="2185416"/>
            <a:ext cx="695147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itle and Double Content">
    <p:spTree>
      <p:nvGrpSpPr>
        <p:cNvPr id="1" name=""/>
        <p:cNvGrpSpPr/>
        <p:nvPr/>
      </p:nvGrpSpPr>
      <p:grpSpPr>
        <a:xfrm>
          <a:off x="0" y="0"/>
          <a:ext cx="0" cy="0"/>
          <a:chOff x="0" y="0"/>
          <a:chExt cx="0" cy="0"/>
        </a:xfrm>
      </p:grpSpPr>
      <p:sp>
        <p:nvSpPr>
          <p:cNvPr id="2" name="Title 1"/>
          <p:cNvSpPr>
            <a:spLocks noGrp="1"/>
          </p:cNvSpPr>
          <p:nvPr>
            <p:ph type="title"/>
          </p:nvPr>
        </p:nvSpPr>
        <p:spPr>
          <a:xfrm>
            <a:off x="566928" y="1499616"/>
            <a:ext cx="10515600" cy="590931"/>
          </a:xfrm>
        </p:spPr>
        <p:txBody>
          <a:bodyPr/>
          <a:lstStyle/>
          <a:p>
            <a:r>
              <a:rPr lang="en-US"/>
              <a:t>Click to edit Master title style</a:t>
            </a:r>
          </a:p>
        </p:txBody>
      </p:sp>
      <p:sp>
        <p:nvSpPr>
          <p:cNvPr id="3" name="Content Placeholder 2"/>
          <p:cNvSpPr>
            <a:spLocks noGrp="1"/>
          </p:cNvSpPr>
          <p:nvPr>
            <p:ph sz="half" idx="1"/>
          </p:nvPr>
        </p:nvSpPr>
        <p:spPr>
          <a:xfrm>
            <a:off x="566928" y="2185416"/>
            <a:ext cx="4500372" cy="394868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0200" y="2185416"/>
            <a:ext cx="4498848" cy="395020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6928" y="1499616"/>
            <a:ext cx="10515600" cy="590931"/>
          </a:xfrm>
        </p:spPr>
        <p:txBody>
          <a:bodyPr>
            <a:spAutoFit/>
          </a:bodyPr>
          <a:lstStyle/>
          <a:p>
            <a:r>
              <a:rPr lang="en-US" dirty="0"/>
              <a:t>Click to edit Master title style</a:t>
            </a:r>
          </a:p>
        </p:txBody>
      </p:sp>
      <p:sp>
        <p:nvSpPr>
          <p:cNvPr id="3" name="Text Placeholder 2"/>
          <p:cNvSpPr>
            <a:spLocks noGrp="1"/>
          </p:cNvSpPr>
          <p:nvPr>
            <p:ph type="body" idx="1" hasCustomPrompt="1"/>
          </p:nvPr>
        </p:nvSpPr>
        <p:spPr>
          <a:xfrm>
            <a:off x="566928" y="2185416"/>
            <a:ext cx="5138928" cy="393192"/>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566928" y="2593340"/>
            <a:ext cx="5140515" cy="3535744"/>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0" y="2185416"/>
            <a:ext cx="5138928" cy="394980"/>
          </a:xfrm>
        </p:spPr>
        <p:txBody>
          <a:bodyPr anchor="t" anchorCtr="0">
            <a:spAutoFit/>
          </a:bodyPr>
          <a:lstStyle>
            <a:lvl1pPr marL="0" indent="0">
              <a:buNone/>
              <a:defRPr sz="16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90800"/>
            <a:ext cx="5138928" cy="3538728"/>
          </a:xfrm>
        </p:spPr>
        <p:txBody>
          <a:bodyPr/>
          <a:lstStyle>
            <a:lvl1pPr marL="285750" indent="-285750">
              <a:buClr>
                <a:schemeClr val="tx2"/>
              </a:buClr>
              <a:buSzPct val="120000"/>
              <a:buFont typeface="Arial" panose="020B0604020202020204" pitchFamily="34" charset="0"/>
              <a:buChar char="•"/>
              <a:defRPr/>
            </a:lvl1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spAutoFit/>
          </a:bodyPr>
          <a:lstStyle/>
          <a:p>
            <a:r>
              <a:rPr lang="en-US" dirty="0"/>
              <a:t>Click to edit Master title style</a:t>
            </a:r>
          </a:p>
        </p:txBody>
      </p:sp>
      <p:sp>
        <p:nvSpPr>
          <p:cNvPr id="4" name="Footer Placeholder 3"/>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Footer Placeholder 5"/>
          <p:cNvSpPr>
            <a:spLocks noGrp="1"/>
          </p:cNvSpPr>
          <p:nvPr>
            <p:ph type="ftr" sz="quarter" idx="10"/>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Photo">
    <p:spTree>
      <p:nvGrpSpPr>
        <p:cNvPr id="1" name=""/>
        <p:cNvGrpSpPr/>
        <p:nvPr/>
      </p:nvGrpSpPr>
      <p:grpSpPr>
        <a:xfrm>
          <a:off x="0" y="0"/>
          <a:ext cx="0" cy="0"/>
          <a:chOff x="0" y="0"/>
          <a:chExt cx="0" cy="0"/>
        </a:xfrm>
      </p:grpSpPr>
      <p:sp>
        <p:nvSpPr>
          <p:cNvPr id="5" name="Picture Placeholder 2"/>
          <p:cNvSpPr>
            <a:spLocks noGrp="1" noChangeAspect="1"/>
          </p:cNvSpPr>
          <p:nvPr>
            <p:ph type="pic" idx="13" hasCustomPrompt="1"/>
          </p:nvPr>
        </p:nvSpPr>
        <p:spPr>
          <a:xfrm>
            <a:off x="5098566" y="927100"/>
            <a:ext cx="7093434"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2" name="Title 1"/>
          <p:cNvSpPr>
            <a:spLocks noGrp="1"/>
          </p:cNvSpPr>
          <p:nvPr>
            <p:ph type="title" hasCustomPrompt="1"/>
          </p:nvPr>
        </p:nvSpPr>
        <p:spPr>
          <a:xfrm>
            <a:off x="566928" y="1499616"/>
            <a:ext cx="4248912" cy="590931"/>
          </a:xfrm>
        </p:spPr>
        <p:txBody>
          <a:bodyPr/>
          <a:lstStyle/>
          <a:p>
            <a:r>
              <a:rPr lang="en-US" dirty="0"/>
              <a:t>Click to edit</a:t>
            </a:r>
          </a:p>
        </p:txBody>
      </p:sp>
      <p:sp>
        <p:nvSpPr>
          <p:cNvPr id="3" name="Content Placeholder 2"/>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4"/>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and Three Photo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66928" y="1499616"/>
            <a:ext cx="4248912" cy="590931"/>
          </a:xfrm>
        </p:spPr>
        <p:txBody>
          <a:bodyPr/>
          <a:lstStyle/>
          <a:p>
            <a:r>
              <a:rPr lang="en-US" dirty="0"/>
              <a:t>Click to edit</a:t>
            </a:r>
          </a:p>
        </p:txBody>
      </p:sp>
      <p:sp>
        <p:nvSpPr>
          <p:cNvPr id="3" name="Content Placeholder 2"/>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p:cNvSpPr>
            <a:spLocks noGrp="1" noChangeAspect="1"/>
          </p:cNvSpPr>
          <p:nvPr>
            <p:ph type="pic" idx="13" hasCustomPrompt="1"/>
          </p:nvPr>
        </p:nvSpPr>
        <p:spPr>
          <a:xfrm>
            <a:off x="5114631" y="934720"/>
            <a:ext cx="7077369" cy="3064678"/>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8" name="Picture Placeholder 2"/>
          <p:cNvSpPr>
            <a:spLocks noGrp="1" noChangeAspect="1"/>
          </p:cNvSpPr>
          <p:nvPr>
            <p:ph type="pic" idx="14" hasCustomPrompt="1"/>
          </p:nvPr>
        </p:nvSpPr>
        <p:spPr>
          <a:xfrm>
            <a:off x="5114631" y="3998296"/>
            <a:ext cx="360252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9" name="Picture Placeholder 2"/>
          <p:cNvSpPr>
            <a:spLocks noGrp="1" noChangeAspect="1"/>
          </p:cNvSpPr>
          <p:nvPr>
            <p:ph type="pic" idx="15" hasCustomPrompt="1"/>
          </p:nvPr>
        </p:nvSpPr>
        <p:spPr>
          <a:xfrm>
            <a:off x="8701089" y="3998296"/>
            <a:ext cx="3490912" cy="2857500"/>
          </a:xfrm>
          <a:prstGeom prst="rect">
            <a:avLst/>
          </a:prstGeom>
          <a:solidFill>
            <a:schemeClr val="bg2">
              <a:lumMod val="75000"/>
            </a:schemeClr>
          </a:solidFill>
          <a:ln>
            <a:solidFill>
              <a:schemeClr val="bg1"/>
            </a:solid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10" name="Footer Placeholder 9"/>
          <p:cNvSpPr>
            <a:spLocks noGrp="1"/>
          </p:cNvSpPr>
          <p:nvPr>
            <p:ph type="ftr" sz="quarter" idx="16"/>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Width Photo">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a:t>
            </a:r>
          </a:p>
        </p:txBody>
      </p:sp>
      <p:sp>
        <p:nvSpPr>
          <p:cNvPr id="3" name="Picture Placeholder 2"/>
          <p:cNvSpPr>
            <a:spLocks noGrp="1" noChangeAspect="1"/>
          </p:cNvSpPr>
          <p:nvPr>
            <p:ph type="pic" idx="13" hasCustomPrompt="1"/>
          </p:nvPr>
        </p:nvSpPr>
        <p:spPr>
          <a:xfrm>
            <a:off x="0" y="927100"/>
            <a:ext cx="12192000" cy="5930900"/>
          </a:xfrm>
          <a:prstGeom prst="rect">
            <a:avLst/>
          </a:prstGeom>
          <a:solidFill>
            <a:schemeClr val="bg2">
              <a:lumMod val="75000"/>
            </a:schemeClr>
          </a:solidFill>
          <a:ln>
            <a:noFill/>
          </a:ln>
        </p:spPr>
        <p:txBody>
          <a:bodyPr anchor="t">
            <a:normAutofit/>
          </a:bodyPr>
          <a:lstStyle>
            <a:lvl1pPr marL="0" indent="0" algn="ctr">
              <a:buNone/>
              <a:defRPr sz="1600"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a:p>
            <a:r>
              <a:rPr lang="en-US" dirty="0"/>
              <a:t>Drag picture to placeholder or click icon to add</a:t>
            </a:r>
          </a:p>
        </p:txBody>
      </p:sp>
      <p:sp>
        <p:nvSpPr>
          <p:cNvPr id="5" name="Footer Placeholder 4"/>
          <p:cNvSpPr>
            <a:spLocks noGrp="1"/>
          </p:cNvSpPr>
          <p:nvPr>
            <p:ph type="ftr" sz="quarter" idx="14"/>
          </p:nvPr>
        </p:nvSpPr>
        <p:spPr/>
        <p:txBody>
          <a:bodyPr/>
          <a:lstStyle/>
          <a:p>
            <a:fld id="{EB53C135-CEC6-A548-8917-8F7FEB82358B}"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Graph">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66928" y="1499616"/>
            <a:ext cx="4248912" cy="590931"/>
          </a:xfrm>
        </p:spPr>
        <p:txBody>
          <a:bodyPr/>
          <a:lstStyle/>
          <a:p>
            <a:r>
              <a:rPr lang="en-US" dirty="0"/>
              <a:t>Click to edit</a:t>
            </a:r>
          </a:p>
        </p:txBody>
      </p:sp>
      <p:sp>
        <p:nvSpPr>
          <p:cNvPr id="3" name="Content Placeholder 2"/>
          <p:cNvSpPr>
            <a:spLocks noGrp="1"/>
          </p:cNvSpPr>
          <p:nvPr>
            <p:ph idx="1"/>
          </p:nvPr>
        </p:nvSpPr>
        <p:spPr>
          <a:xfrm>
            <a:off x="566928" y="2185416"/>
            <a:ext cx="4248912" cy="396824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hart Placeholder 2"/>
          <p:cNvSpPr>
            <a:spLocks noGrp="1"/>
          </p:cNvSpPr>
          <p:nvPr>
            <p:ph type="chart" sz="quarter" idx="16" hasCustomPrompt="1"/>
          </p:nvPr>
        </p:nvSpPr>
        <p:spPr>
          <a:xfrm>
            <a:off x="5161935" y="1976285"/>
            <a:ext cx="6325152" cy="3967316"/>
          </a:xfrm>
          <a:prstGeom prst="rect">
            <a:avLst/>
          </a:prstGeom>
          <a:solidFill>
            <a:schemeClr val="bg2">
              <a:lumMod val="75000"/>
            </a:schemeClr>
          </a:solidFill>
          <a:ln>
            <a:noFill/>
          </a:ln>
        </p:spPr>
        <p:style>
          <a:lnRef idx="1">
            <a:schemeClr val="accent3"/>
          </a:lnRef>
          <a:fillRef idx="2">
            <a:schemeClr val="accent3"/>
          </a:fillRef>
          <a:effectRef idx="1">
            <a:schemeClr val="accent3"/>
          </a:effectRef>
          <a:fontRef idx="none"/>
        </p:style>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defRPr sz="1600" baseline="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endParaRPr lang="en-US" dirty="0"/>
          </a:p>
          <a:p>
            <a:r>
              <a:rPr lang="en-US" dirty="0"/>
              <a:t>Drag chart to placeholder or click icon to add chart</a:t>
            </a:r>
          </a:p>
          <a:p>
            <a:endParaRPr lang="en-US" dirty="0"/>
          </a:p>
        </p:txBody>
      </p:sp>
      <p:sp>
        <p:nvSpPr>
          <p:cNvPr id="8" name="Footer Placeholder 7"/>
          <p:cNvSpPr>
            <a:spLocks noGrp="1"/>
          </p:cNvSpPr>
          <p:nvPr>
            <p:ph type="ftr" sz="quarter" idx="17"/>
          </p:nvPr>
        </p:nvSpPr>
        <p:spPr/>
        <p:txBody>
          <a:bodyPr/>
          <a:lstStyle/>
          <a:p>
            <a:fld id="{EB53C135-CEC6-A548-8917-8F7FEB82358B}"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66928" y="1499616"/>
            <a:ext cx="10515600" cy="590931"/>
          </a:xfrm>
          <a:prstGeom prst="rect">
            <a:avLst/>
          </a:prstGeom>
        </p:spPr>
        <p:txBody>
          <a:bodyPr vert="horz"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566928" y="2185416"/>
            <a:ext cx="10515600" cy="3968249"/>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Picture 8" descr="University at Buffalo, The State University of New York logo"/>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355600" y="321146"/>
            <a:ext cx="4800600" cy="356029"/>
          </a:xfrm>
          <a:prstGeom prst="rect">
            <a:avLst/>
          </a:prstGeom>
        </p:spPr>
      </p:pic>
      <p:sp>
        <p:nvSpPr>
          <p:cNvPr id="5" name="Footer Placeholder 4"/>
          <p:cNvSpPr>
            <a:spLocks noGrp="1"/>
          </p:cNvSpPr>
          <p:nvPr>
            <p:ph type="ftr" sz="quarter" idx="3"/>
          </p:nvPr>
        </p:nvSpPr>
        <p:spPr>
          <a:xfrm>
            <a:off x="7574280" y="6319774"/>
            <a:ext cx="4114800" cy="365125"/>
          </a:xfrm>
          <a:prstGeom prst="rect">
            <a:avLst/>
          </a:prstGeom>
        </p:spPr>
        <p:txBody>
          <a:bodyPr vert="horz" lIns="91440" tIns="45720" rIns="91440" bIns="45720" rtlCol="0" anchor="ctr"/>
          <a:lstStyle>
            <a:lvl1pPr algn="r">
              <a:defRPr sz="1600" b="1">
                <a:solidFill>
                  <a:schemeClr val="tx1"/>
                </a:solidFill>
              </a:defRPr>
            </a:lvl1pPr>
          </a:lstStyle>
          <a:p>
            <a:fld id="{EB53C135-CEC6-A548-8917-8F7FEB82358B}"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3600" b="0" i="0" kern="1200">
          <a:solidFill>
            <a:schemeClr val="tx2"/>
          </a:solidFill>
          <a:latin typeface="Georgia" panose="02040502050405020303" pitchFamily="18" charset="0"/>
          <a:ea typeface="+mj-ea"/>
          <a:cs typeface="+mj-cs"/>
        </a:defRPr>
      </a:lvl1pPr>
    </p:titleStyle>
    <p:bodyStyle>
      <a:lvl1pPr marL="228600" indent="-228600" algn="l" defTabSz="914400" rtl="0" eaLnBrk="1" latinLnBrk="0" hangingPunct="1">
        <a:lnSpc>
          <a:spcPct val="130000"/>
        </a:lnSpc>
        <a:spcBef>
          <a:spcPts val="600"/>
        </a:spcBef>
        <a:buClr>
          <a:schemeClr val="tx2"/>
        </a:buClr>
        <a:buSzPct val="120000"/>
        <a:buFont typeface="Arial" panose="020B0604020202020204" pitchFamily="34" charset="0"/>
        <a:buChar char="•"/>
        <a:defRPr sz="1800" kern="1200">
          <a:solidFill>
            <a:schemeClr val="tx1"/>
          </a:solidFill>
          <a:latin typeface="+mn-lt"/>
          <a:ea typeface="+mn-ea"/>
          <a:cs typeface="+mn-cs"/>
        </a:defRPr>
      </a:lvl1pPr>
      <a:lvl2pPr marL="6858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2pPr>
      <a:lvl3pPr marL="11430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3pPr>
      <a:lvl4pPr marL="16002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4pPr>
      <a:lvl5pPr marL="2057400" indent="-182880" algn="l" defTabSz="914400" rtl="0" eaLnBrk="1" latinLnBrk="0" hangingPunct="1">
        <a:lnSpc>
          <a:spcPct val="130000"/>
        </a:lnSpc>
        <a:spcBef>
          <a:spcPts val="600"/>
        </a:spcBef>
        <a:buClr>
          <a:schemeClr val="tx2"/>
        </a:buClr>
        <a:buSzPct val="120000"/>
        <a:buFont typeface="System Font Regular"/>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resentation Title"/>
          <p:cNvSpPr>
            <a:spLocks noGrp="1"/>
          </p:cNvSpPr>
          <p:nvPr>
            <p:ph type="ctrTitle"/>
          </p:nvPr>
        </p:nvSpPr>
        <p:spPr>
          <a:xfrm>
            <a:off x="240665" y="436245"/>
            <a:ext cx="7097395" cy="3479165"/>
          </a:xfrm>
        </p:spPr>
        <p:txBody>
          <a:bodyPr/>
          <a:lstStyle/>
          <a:p>
            <a:pPr algn="ctr"/>
            <a:r>
              <a:rPr lang="en-US" sz="4400" dirty="0"/>
              <a:t>INTELLIGENT REMOTE HEALTHCARE AND ASSISTED LIVING ECOSYSTEM</a:t>
            </a:r>
            <a:endParaRPr lang="en-IN" altLang="en-US" sz="4400" dirty="0"/>
          </a:p>
        </p:txBody>
      </p:sp>
      <p:sp>
        <p:nvSpPr>
          <p:cNvPr id="8" name="Rectangle 7"/>
          <p:cNvSpPr/>
          <p:nvPr/>
        </p:nvSpPr>
        <p:spPr>
          <a:xfrm>
            <a:off x="7092315" y="1015365"/>
            <a:ext cx="5099685" cy="5842635"/>
          </a:xfrm>
          <a:prstGeom prst="rect">
            <a:avLst/>
          </a:prstGeom>
          <a:solidFill>
            <a:schemeClr val="accent1"/>
          </a:solidFill>
          <a:effectLst>
            <a:softEdge rad="3175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1300" y="1590675"/>
            <a:ext cx="3374390" cy="34798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0" y="5924991"/>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a:xfrm>
            <a:off x="566928" y="1111437"/>
            <a:ext cx="6951472" cy="1421928"/>
          </a:xfrm>
        </p:spPr>
        <p:txBody>
          <a:bodyPr/>
          <a:lstStyle/>
          <a:p>
            <a:r>
              <a:rPr lang="en-US" sz="3200" dirty="0"/>
              <a:t>INTELLIGENT REMOTE HEALTHCARE AND ASSISTED LIVING ECOSYSTEM</a:t>
            </a:r>
            <a:endParaRPr lang="en-IN" altLang="en-US" sz="3200" dirty="0"/>
          </a:p>
        </p:txBody>
      </p:sp>
      <p:sp>
        <p:nvSpPr>
          <p:cNvPr id="16" name="Slide Number"/>
          <p:cNvSpPr>
            <a:spLocks noGrp="1"/>
          </p:cNvSpPr>
          <p:nvPr>
            <p:ph type="ftr" sz="quarter" idx="10"/>
          </p:nvPr>
        </p:nvSpPr>
        <p:spPr/>
        <p:txBody>
          <a:bodyPr/>
          <a:lstStyle/>
          <a:p>
            <a:fld id="{2E1B3BED-EDDA-2E42-813F-F157009AF3C2}" type="slidenum">
              <a:rPr lang="en-US" smtClean="0"/>
              <a:t>2</a:t>
            </a:fld>
            <a:endParaRPr lang="en-US" dirty="0"/>
          </a:p>
        </p:txBody>
      </p:sp>
      <p:sp>
        <p:nvSpPr>
          <p:cNvPr id="9" name="Content Placeholder 8"/>
          <p:cNvSpPr>
            <a:spLocks noGrp="1"/>
          </p:cNvSpPr>
          <p:nvPr>
            <p:ph idx="1"/>
          </p:nvPr>
        </p:nvSpPr>
        <p:spPr>
          <a:xfrm>
            <a:off x="566928" y="2464752"/>
            <a:ext cx="10799411" cy="3968249"/>
          </a:xfrm>
        </p:spPr>
        <p:txBody>
          <a:bodyPr/>
          <a:lstStyle/>
          <a:p>
            <a:r>
              <a:rPr lang="en-US" sz="2000" dirty="0"/>
              <a:t>The Intelligent Remote Healthcare and Assisted Living Ecosystem is a smart monitoring solution designed to support elderly people, patients, and individuals who require regular assistance. The system combines health monitoring, environmental safety, emergency alerts, remote monitoring, and automatic data logging to provide continuous information about the user's condition.</a:t>
            </a:r>
          </a:p>
          <a:p>
            <a:r>
              <a:rPr lang="en-US" sz="2000" dirty="0"/>
              <a:t>An ESP32-based monitoring system collects data from multiple sensors, displays important readings on an OLED screen, and sends the information to the </a:t>
            </a:r>
            <a:r>
              <a:rPr lang="en-US" sz="2000" dirty="0" err="1"/>
              <a:t>Blynk</a:t>
            </a:r>
            <a:r>
              <a:rPr lang="en-US" sz="2000" dirty="0"/>
              <a:t> IoT platform for remote access and monitoring.</a:t>
            </a:r>
          </a:p>
          <a:p>
            <a:pPr marL="0" indent="0" algn="just">
              <a:buNone/>
            </a:pPr>
            <a:endParaRPr lang="en-US" altLang="en-GB" sz="2000" dirty="0"/>
          </a:p>
          <a:p>
            <a:pPr marL="0" indent="0" algn="just">
              <a:buNone/>
            </a:pPr>
            <a:endParaRPr lang="en-US" altLang="en-GB" sz="2000" dirty="0"/>
          </a:p>
        </p:txBody>
      </p:sp>
      <p:sp>
        <p:nvSpPr>
          <p:cNvPr id="10" name="Rectangle 9"/>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11"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a:xfrm>
            <a:off x="618998" y="1330071"/>
            <a:ext cx="10515600" cy="590931"/>
          </a:xfrm>
        </p:spPr>
        <p:txBody>
          <a:bodyPr/>
          <a:lstStyle/>
          <a:p>
            <a:r>
              <a:rPr lang="en-US" dirty="0"/>
              <a:t>Double Content Slide</a:t>
            </a:r>
          </a:p>
        </p:txBody>
      </p:sp>
      <p:sp>
        <p:nvSpPr>
          <p:cNvPr id="3" name="Side Text - Column 1"/>
          <p:cNvSpPr>
            <a:spLocks noGrp="1"/>
          </p:cNvSpPr>
          <p:nvPr>
            <p:ph sz="half" idx="1"/>
          </p:nvPr>
        </p:nvSpPr>
        <p:spPr>
          <a:xfrm>
            <a:off x="816483" y="2017141"/>
            <a:ext cx="4498848" cy="4667758"/>
          </a:xfrm>
        </p:spPr>
        <p:txBody>
          <a:bodyPr/>
          <a:lstStyle/>
          <a:p>
            <a:pPr marL="0" indent="0">
              <a:buNone/>
            </a:pPr>
            <a:r>
              <a:rPr lang="en-US" sz="2000" b="1" dirty="0"/>
              <a:t>Technical Architecture Our system</a:t>
            </a:r>
          </a:p>
          <a:p>
            <a:pPr marL="0" indent="0" algn="just">
              <a:buNone/>
            </a:pPr>
            <a:r>
              <a:rPr lang="en-US" dirty="0"/>
              <a:t>The prototype uses an ESP32 microcontroller as the central processing unit. The MAX30102 monitors heart rate and </a:t>
            </a:r>
            <a:r>
              <a:rPr lang="en-US" dirty="0" err="1"/>
              <a:t>SpO</a:t>
            </a:r>
            <a:r>
              <a:rPr lang="en-US" dirty="0"/>
              <a:t>₂, while the MLX90614 measures body temperature. The MPU6050 identifies unusual movements and possible falls. Environmental conditions are monitored using DHT22, MQ-2, and PIR sensors. An OLED display provides local readings, while </a:t>
            </a:r>
            <a:r>
              <a:rPr lang="en-US" dirty="0" err="1"/>
              <a:t>Blynk</a:t>
            </a:r>
            <a:r>
              <a:rPr lang="en-US" dirty="0"/>
              <a:t> IoT enables remote monitoring.. </a:t>
            </a:r>
            <a:endParaRPr lang="en-US" altLang="en-GB" dirty="0"/>
          </a:p>
        </p:txBody>
      </p:sp>
      <p:sp>
        <p:nvSpPr>
          <p:cNvPr id="4" name="Side Text - Column 2"/>
          <p:cNvSpPr>
            <a:spLocks noGrp="1"/>
          </p:cNvSpPr>
          <p:nvPr>
            <p:ph sz="half" idx="2"/>
          </p:nvPr>
        </p:nvSpPr>
        <p:spPr>
          <a:xfrm>
            <a:off x="6083935" y="2017141"/>
            <a:ext cx="4498848" cy="3950208"/>
          </a:xfrm>
        </p:spPr>
        <p:txBody>
          <a:bodyPr/>
          <a:lstStyle/>
          <a:p>
            <a:pPr marL="0" indent="0">
              <a:buNone/>
            </a:pPr>
            <a:r>
              <a:rPr lang="en-US" sz="2000" b="1" dirty="0"/>
              <a:t>User Value &amp; Impact</a:t>
            </a:r>
          </a:p>
          <a:p>
            <a:pPr marL="0" indent="0" algn="just">
              <a:buNone/>
            </a:pPr>
            <a:r>
              <a:rPr lang="en-US" dirty="0"/>
              <a:t>The system provides a practical and affordable solution for continuous health and safety monitoring. It helps family members and caregivers remotely track important health and environmental conditions, receive alerts during abnormal situations, and review stored data for better observation and decision-making..</a:t>
            </a:r>
          </a:p>
        </p:txBody>
      </p:sp>
      <p:sp>
        <p:nvSpPr>
          <p:cNvPr id="15" name="Slide Number"/>
          <p:cNvSpPr>
            <a:spLocks noGrp="1"/>
          </p:cNvSpPr>
          <p:nvPr>
            <p:ph type="ftr" sz="quarter" idx="10"/>
          </p:nvPr>
        </p:nvSpPr>
        <p:spPr/>
        <p:txBody>
          <a:bodyPr/>
          <a:lstStyle/>
          <a:p>
            <a:fld id="{7FF4D5E0-956F-9742-9135-6CCBA6AE77D9}" type="slidenum">
              <a:rPr lang="en-US" smtClean="0"/>
              <a:t>3</a:t>
            </a:fld>
            <a:endParaRPr lang="en-US" dirty="0"/>
          </a:p>
        </p:txBody>
      </p:sp>
      <p:sp>
        <p:nvSpPr>
          <p:cNvPr id="5" name="Rectangle 4"/>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a:xfrm>
            <a:off x="802598" y="1369706"/>
            <a:ext cx="3458317" cy="590931"/>
          </a:xfrm>
        </p:spPr>
        <p:txBody>
          <a:bodyPr/>
          <a:lstStyle/>
          <a:p>
            <a:r>
              <a:rPr lang="en-IN" dirty="0"/>
              <a:t>Key Features</a:t>
            </a:r>
            <a:endParaRPr lang="en-US" dirty="0"/>
          </a:p>
        </p:txBody>
      </p:sp>
      <p:sp>
        <p:nvSpPr>
          <p:cNvPr id="8" name="Slide Number"/>
          <p:cNvSpPr>
            <a:spLocks noGrp="1"/>
          </p:cNvSpPr>
          <p:nvPr>
            <p:ph type="ftr" sz="quarter" idx="10"/>
          </p:nvPr>
        </p:nvSpPr>
        <p:spPr/>
        <p:txBody>
          <a:bodyPr/>
          <a:lstStyle/>
          <a:p>
            <a:fld id="{FF97EF4A-40C6-024D-A945-B03D1BBD02F7}" type="slidenum">
              <a:rPr lang="en-US" smtClean="0"/>
              <a:t>4</a:t>
            </a:fld>
            <a:endParaRPr lang="en-US" dirty="0"/>
          </a:p>
        </p:txBody>
      </p:sp>
      <p:sp>
        <p:nvSpPr>
          <p:cNvPr id="6" name="Rectangle 5"/>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7"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a:extLst>
              <a:ext uri="{FF2B5EF4-FFF2-40B4-BE49-F238E27FC236}">
                <a16:creationId xmlns:a16="http://schemas.microsoft.com/office/drawing/2014/main" id="{4D9E3AD5-902F-4DBC-B0A7-D6A5526D0152}"/>
              </a:ext>
            </a:extLst>
          </p:cNvPr>
          <p:cNvSpPr>
            <a:spLocks noGrp="1" noChangeArrowheads="1"/>
          </p:cNvSpPr>
          <p:nvPr>
            <p:ph idx="1"/>
          </p:nvPr>
        </p:nvSpPr>
        <p:spPr bwMode="auto">
          <a:xfrm>
            <a:off x="622300" y="1944264"/>
            <a:ext cx="54737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Real-time heart rate and </a:t>
            </a:r>
            <a:r>
              <a:rPr kumimoji="0" lang="en-US" altLang="en-US" sz="2000" b="0" i="0" u="none" strike="noStrike" cap="none" normalizeH="0" baseline="0" dirty="0" err="1">
                <a:ln>
                  <a:noFill/>
                </a:ln>
                <a:solidFill>
                  <a:schemeClr val="tx1"/>
                </a:solidFill>
                <a:effectLst/>
              </a:rPr>
              <a:t>SpO</a:t>
            </a:r>
            <a:r>
              <a:rPr kumimoji="0" lang="en-US" altLang="en-US" sz="2000" b="0" i="0" u="none" strike="noStrike" cap="none" normalizeH="0" baseline="0" dirty="0">
                <a:ln>
                  <a:noFill/>
                </a:ln>
                <a:solidFill>
                  <a:schemeClr val="tx1"/>
                </a:solidFill>
                <a:effectLst/>
              </a:rPr>
              <a:t>₂ monitoring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Body temperature monitoring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Fall and unusual movement detection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Room temperature and humidity monitoring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Gas and smoke detection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Surrounding movement detection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OLED-based real-time data display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Remote monitoring through </a:t>
            </a:r>
            <a:r>
              <a:rPr kumimoji="0" lang="en-US" altLang="en-US" sz="2000" b="0" i="0" u="none" strike="noStrike" cap="none" normalizeH="0" baseline="0" dirty="0" err="1">
                <a:ln>
                  <a:noFill/>
                </a:ln>
                <a:solidFill>
                  <a:schemeClr val="tx1"/>
                </a:solidFill>
                <a:effectLst/>
              </a:rPr>
              <a:t>Blynk</a:t>
            </a:r>
            <a:r>
              <a:rPr kumimoji="0" lang="en-US" altLang="en-US" sz="2000" b="0" i="0" u="none" strike="noStrike" cap="none" normalizeH="0" baseline="0" dirty="0">
                <a:ln>
                  <a:noFill/>
                </a:ln>
                <a:solidFill>
                  <a:schemeClr val="tx1"/>
                </a:solidFill>
                <a:effectLst/>
              </a:rPr>
              <a:t> IoT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Buzzer and LED emergency alerts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Manual assistance through SOS button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Automatic sensor data logging using Python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CSV-based storage for historical analysis </a:t>
            </a:r>
          </a:p>
        </p:txBody>
      </p:sp>
      <p:pic>
        <p:nvPicPr>
          <p:cNvPr id="10" name="Picture 9">
            <a:extLst>
              <a:ext uri="{FF2B5EF4-FFF2-40B4-BE49-F238E27FC236}">
                <a16:creationId xmlns:a16="http://schemas.microsoft.com/office/drawing/2014/main" id="{EDA061C2-68BC-4416-9B7D-8B73A7A19CE8}"/>
              </a:ext>
            </a:extLst>
          </p:cNvPr>
          <p:cNvPicPr>
            <a:picLocks noChangeAspect="1"/>
          </p:cNvPicPr>
          <p:nvPr/>
        </p:nvPicPr>
        <p:blipFill>
          <a:blip r:embed="rId3"/>
          <a:stretch>
            <a:fillRect/>
          </a:stretch>
        </p:blipFill>
        <p:spPr>
          <a:xfrm>
            <a:off x="7379813" y="1780989"/>
            <a:ext cx="2821479" cy="37619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Title"/>
          <p:cNvSpPr>
            <a:spLocks noGrp="1"/>
          </p:cNvSpPr>
          <p:nvPr>
            <p:ph type="title"/>
          </p:nvPr>
        </p:nvSpPr>
        <p:spPr>
          <a:xfrm>
            <a:off x="566928" y="1203897"/>
            <a:ext cx="10515600" cy="590931"/>
          </a:xfrm>
        </p:spPr>
        <p:txBody>
          <a:bodyPr/>
          <a:lstStyle/>
          <a:p>
            <a:r>
              <a:rPr lang="en-US" dirty="0"/>
              <a:t>Comparison Slide</a:t>
            </a:r>
          </a:p>
        </p:txBody>
      </p:sp>
      <p:sp>
        <p:nvSpPr>
          <p:cNvPr id="13" name="Compare Section"/>
          <p:cNvSpPr>
            <a:spLocks noGrp="1"/>
          </p:cNvSpPr>
          <p:nvPr>
            <p:ph type="body" idx="1"/>
          </p:nvPr>
        </p:nvSpPr>
        <p:spPr>
          <a:xfrm>
            <a:off x="566928" y="2039567"/>
            <a:ext cx="5138928" cy="450829"/>
          </a:xfrm>
        </p:spPr>
        <p:txBody>
          <a:bodyPr/>
          <a:lstStyle/>
          <a:p>
            <a:r>
              <a:rPr lang="en-IN" sz="2000" dirty="0"/>
              <a:t>Conventional Monitoring</a:t>
            </a:r>
            <a:endParaRPr lang="en-US" sz="2000" dirty="0"/>
          </a:p>
        </p:txBody>
      </p:sp>
      <p:sp>
        <p:nvSpPr>
          <p:cNvPr id="14" name="Compare Section - Text"/>
          <p:cNvSpPr>
            <a:spLocks noGrp="1"/>
          </p:cNvSpPr>
          <p:nvPr>
            <p:ph sz="half" idx="2"/>
          </p:nvPr>
        </p:nvSpPr>
        <p:spPr>
          <a:xfrm>
            <a:off x="566928" y="2509117"/>
            <a:ext cx="5140515" cy="3535744"/>
          </a:xfrm>
        </p:spPr>
        <p:txBody>
          <a:bodyPr/>
          <a:lstStyle/>
          <a:p>
            <a:pPr marL="0" indent="0">
              <a:spcAft>
                <a:spcPts val="600"/>
              </a:spcAft>
              <a:buNone/>
            </a:pPr>
            <a:r>
              <a:rPr lang="en-US" sz="2000" dirty="0"/>
              <a:t>Traditional healthcare monitoring often depends on direct supervision by family members or caregivers. Continuous observation may not always be possible, and important changes in health or environmental conditions can sometimes go unnoticed.</a:t>
            </a:r>
            <a:endParaRPr lang="en-US" altLang="en-GB" sz="2000" dirty="0"/>
          </a:p>
        </p:txBody>
      </p:sp>
      <p:sp>
        <p:nvSpPr>
          <p:cNvPr id="15" name="Contrast Section"/>
          <p:cNvSpPr>
            <a:spLocks noGrp="1"/>
          </p:cNvSpPr>
          <p:nvPr>
            <p:ph type="body" sz="quarter" idx="3"/>
          </p:nvPr>
        </p:nvSpPr>
        <p:spPr>
          <a:xfrm>
            <a:off x="6172200" y="2037779"/>
            <a:ext cx="5138928" cy="450829"/>
          </a:xfrm>
        </p:spPr>
        <p:txBody>
          <a:bodyPr/>
          <a:lstStyle/>
          <a:p>
            <a:r>
              <a:rPr lang="en-IN" sz="2000" dirty="0"/>
              <a:t>Intelligent Remote Monitoring</a:t>
            </a:r>
            <a:endParaRPr lang="en-US" sz="2000" dirty="0"/>
          </a:p>
        </p:txBody>
      </p:sp>
      <p:sp>
        <p:nvSpPr>
          <p:cNvPr id="16" name="Contrast Section - Text"/>
          <p:cNvSpPr>
            <a:spLocks noGrp="1"/>
          </p:cNvSpPr>
          <p:nvPr>
            <p:ph sz="quarter" idx="4"/>
          </p:nvPr>
        </p:nvSpPr>
        <p:spPr>
          <a:xfrm>
            <a:off x="6172200" y="2506133"/>
            <a:ext cx="5138928" cy="3538728"/>
          </a:xfrm>
        </p:spPr>
        <p:txBody>
          <a:bodyPr/>
          <a:lstStyle/>
          <a:p>
            <a:pPr marL="0" indent="0">
              <a:buNone/>
            </a:pPr>
            <a:r>
              <a:rPr lang="en-US" sz="2000" dirty="0"/>
              <a:t>Unlike conventional monitoring, the proposed ecosystem continuously collects health and environmental data using multiple sensors. It provides remote access through </a:t>
            </a:r>
            <a:r>
              <a:rPr lang="en-US" sz="2000" dirty="0" err="1"/>
              <a:t>Blynk</a:t>
            </a:r>
            <a:r>
              <a:rPr lang="en-US" sz="2000" dirty="0"/>
              <a:t> IoT, generates alerts when abnormal conditions are detected, and stores readings automatically for later analysis.</a:t>
            </a:r>
          </a:p>
          <a:p>
            <a:pPr marL="0" indent="0">
              <a:buNone/>
            </a:pPr>
            <a:r>
              <a:rPr lang="en-US" sz="2000" dirty="0"/>
              <a:t> </a:t>
            </a:r>
            <a:endParaRPr lang="en-US" altLang="en-GB" sz="2000" dirty="0"/>
          </a:p>
        </p:txBody>
      </p:sp>
      <p:sp>
        <p:nvSpPr>
          <p:cNvPr id="23" name="Slide Number"/>
          <p:cNvSpPr>
            <a:spLocks noGrp="1"/>
          </p:cNvSpPr>
          <p:nvPr>
            <p:ph type="ftr" sz="quarter" idx="10"/>
          </p:nvPr>
        </p:nvSpPr>
        <p:spPr/>
        <p:txBody>
          <a:bodyPr/>
          <a:lstStyle/>
          <a:p>
            <a:fld id="{11612D8C-0CE2-8F48-B865-A1C7EEB20945}" type="slidenum">
              <a:rPr lang="en-US" smtClean="0"/>
              <a:t>5</a:t>
            </a:fld>
            <a:endParaRPr lang="en-US" dirty="0"/>
          </a:p>
        </p:txBody>
      </p:sp>
      <p:sp>
        <p:nvSpPr>
          <p:cNvPr id="2" name="Rectangle 1"/>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3"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p:cNvSpPr>
            <a:spLocks noGrp="1"/>
          </p:cNvSpPr>
          <p:nvPr>
            <p:ph type="title"/>
          </p:nvPr>
        </p:nvSpPr>
        <p:spPr>
          <a:xfrm>
            <a:off x="566928" y="1154754"/>
            <a:ext cx="4248912" cy="590931"/>
          </a:xfrm>
        </p:spPr>
        <p:txBody>
          <a:bodyPr/>
          <a:lstStyle/>
          <a:p>
            <a:r>
              <a:rPr lang="en-US" dirty="0"/>
              <a:t>Prototype</a:t>
            </a:r>
          </a:p>
        </p:txBody>
      </p:sp>
      <p:sp>
        <p:nvSpPr>
          <p:cNvPr id="3" name="Slide Text"/>
          <p:cNvSpPr>
            <a:spLocks noGrp="1"/>
          </p:cNvSpPr>
          <p:nvPr>
            <p:ph idx="1"/>
          </p:nvPr>
        </p:nvSpPr>
        <p:spPr>
          <a:xfrm>
            <a:off x="465456" y="1766570"/>
            <a:ext cx="4870116" cy="4766205"/>
          </a:xfrm>
        </p:spPr>
        <p:txBody>
          <a:bodyPr/>
          <a:lstStyle/>
          <a:p>
            <a:r>
              <a:rPr lang="en-US" dirty="0"/>
              <a:t>The developed prototype integrates multiple health and environmental sensors with an ESP32 microcontroller. The MAX30102, MLX90614, and MPU6050 monitor important health-related parameters, while the DHT22, MQ-2, and PIR sensors monitor surrounding conditions.</a:t>
            </a:r>
          </a:p>
          <a:p>
            <a:r>
              <a:rPr lang="en-US" dirty="0"/>
              <a:t>The collected information is displayed locally through an OLED screen and transmitted to the </a:t>
            </a:r>
            <a:r>
              <a:rPr lang="en-US" dirty="0" err="1"/>
              <a:t>Blynk</a:t>
            </a:r>
            <a:r>
              <a:rPr lang="en-US" dirty="0"/>
              <a:t> IoT platform. A buzzer and LED indicators provide alerts, while an SOS button allows the user to manually request assistance.</a:t>
            </a:r>
          </a:p>
          <a:p>
            <a:pPr marL="0" indent="0">
              <a:spcAft>
                <a:spcPts val="600"/>
              </a:spcAft>
              <a:buNone/>
            </a:pPr>
            <a:r>
              <a:rPr lang="en-US" altLang="en-GB" dirty="0"/>
              <a:t>.</a:t>
            </a:r>
          </a:p>
        </p:txBody>
      </p:sp>
      <p:sp>
        <p:nvSpPr>
          <p:cNvPr id="5" name="Rectangle 4"/>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A2F3E05F-F1F3-4C39-A899-01294B773373}"/>
              </a:ext>
            </a:extLst>
          </p:cNvPr>
          <p:cNvPicPr>
            <a:picLocks noChangeAspect="1"/>
          </p:cNvPicPr>
          <p:nvPr/>
        </p:nvPicPr>
        <p:blipFill>
          <a:blip r:embed="rId3"/>
          <a:stretch>
            <a:fillRect/>
          </a:stretch>
        </p:blipFill>
        <p:spPr>
          <a:xfrm>
            <a:off x="6359949" y="2139884"/>
            <a:ext cx="4851663" cy="363874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p:cNvSpPr>
            <a:spLocks noGrp="1"/>
          </p:cNvSpPr>
          <p:nvPr>
            <p:ph type="title"/>
          </p:nvPr>
        </p:nvSpPr>
        <p:spPr>
          <a:xfrm>
            <a:off x="480095" y="1247462"/>
            <a:ext cx="5429250" cy="589280"/>
          </a:xfrm>
        </p:spPr>
        <p:txBody>
          <a:bodyPr wrap="square"/>
          <a:lstStyle/>
          <a:p>
            <a:r>
              <a:rPr lang="en-IN" altLang="en-US" dirty="0"/>
              <a:t>Performance breakdown</a:t>
            </a:r>
          </a:p>
        </p:txBody>
      </p:sp>
      <p:sp>
        <p:nvSpPr>
          <p:cNvPr id="21" name="Rectangle 20"/>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22"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8">
            <a:extLst>
              <a:ext uri="{FF2B5EF4-FFF2-40B4-BE49-F238E27FC236}">
                <a16:creationId xmlns:a16="http://schemas.microsoft.com/office/drawing/2014/main" id="{24F63DA6-E37C-40F5-913A-6B70D95FFB0E}"/>
              </a:ext>
            </a:extLst>
          </p:cNvPr>
          <p:cNvSpPr>
            <a:spLocks noGrp="1" noChangeArrowheads="1"/>
          </p:cNvSpPr>
          <p:nvPr>
            <p:ph idx="1"/>
          </p:nvPr>
        </p:nvSpPr>
        <p:spPr bwMode="auto">
          <a:xfrm>
            <a:off x="480095" y="1613818"/>
            <a:ext cx="6114608" cy="4888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lvl="0" indent="0" eaLnBrk="0" fontAlgn="base" hangingPunct="0">
              <a:lnSpc>
                <a:spcPct val="150000"/>
              </a:lnSpc>
              <a:spcBef>
                <a:spcPct val="0"/>
              </a:spcBef>
              <a:spcAft>
                <a:spcPct val="0"/>
              </a:spcAft>
              <a:buClrTx/>
              <a:buSzTx/>
              <a:buNone/>
            </a:pPr>
            <a:r>
              <a:rPr lang="en-IN" b="1" dirty="0"/>
              <a:t>Health Monitoring:</a:t>
            </a:r>
            <a:r>
              <a:rPr lang="en-IN" dirty="0"/>
              <a:t> Heart rate + </a:t>
            </a:r>
            <a:r>
              <a:rPr lang="en-IN" dirty="0" err="1"/>
              <a:t>SpO</a:t>
            </a:r>
            <a:r>
              <a:rPr lang="en-IN" dirty="0"/>
              <a:t>₂ + body temperature</a:t>
            </a:r>
            <a:br>
              <a:rPr lang="en-IN" dirty="0"/>
            </a:br>
            <a:r>
              <a:rPr lang="en-IN" b="1" dirty="0"/>
              <a:t>Movement Monitoring:</a:t>
            </a:r>
            <a:r>
              <a:rPr lang="en-IN" dirty="0"/>
              <a:t> MPU6050-based fall detection</a:t>
            </a:r>
            <a:br>
              <a:rPr lang="en-IN" dirty="0"/>
            </a:br>
            <a:r>
              <a:rPr lang="en-IN" b="1" dirty="0"/>
              <a:t>Environmental Monitoring:</a:t>
            </a:r>
            <a:r>
              <a:rPr lang="en-IN" dirty="0"/>
              <a:t> Temperature + humidity + gas/smoke + motion</a:t>
            </a:r>
            <a:br>
              <a:rPr lang="en-IN" dirty="0"/>
            </a:br>
            <a:r>
              <a:rPr lang="en-IN" b="1" dirty="0"/>
              <a:t>Controller:</a:t>
            </a:r>
            <a:r>
              <a:rPr lang="en-IN" dirty="0"/>
              <a:t> ESP32 microcontroller</a:t>
            </a:r>
            <a:br>
              <a:rPr lang="en-IN" dirty="0"/>
            </a:br>
            <a:r>
              <a:rPr lang="en-IN" b="1" dirty="0"/>
              <a:t>Remote Monitoring:</a:t>
            </a:r>
            <a:r>
              <a:rPr lang="en-IN" dirty="0"/>
              <a:t> </a:t>
            </a:r>
            <a:r>
              <a:rPr lang="en-IN" dirty="0" err="1"/>
              <a:t>Blynk</a:t>
            </a:r>
            <a:r>
              <a:rPr lang="en-IN" dirty="0"/>
              <a:t> IoT platform</a:t>
            </a:r>
            <a:br>
              <a:rPr lang="en-IN" dirty="0"/>
            </a:br>
            <a:r>
              <a:rPr lang="en-IN" b="1" dirty="0"/>
              <a:t>Local Display:</a:t>
            </a:r>
            <a:r>
              <a:rPr lang="en-IN" dirty="0"/>
              <a:t> OLED display</a:t>
            </a:r>
            <a:br>
              <a:rPr lang="en-IN" dirty="0"/>
            </a:br>
            <a:r>
              <a:rPr lang="en-IN" b="1" dirty="0"/>
              <a:t>Emergency Alert:</a:t>
            </a:r>
            <a:r>
              <a:rPr lang="en-IN" dirty="0"/>
              <a:t> Buzzer + LED indicators + SOS button</a:t>
            </a:r>
            <a:br>
              <a:rPr lang="en-IN" dirty="0"/>
            </a:br>
            <a:r>
              <a:rPr lang="en-IN" b="1" dirty="0"/>
              <a:t>Data Logging:</a:t>
            </a:r>
            <a:r>
              <a:rPr lang="en-IN" dirty="0"/>
              <a:t> Python + CSV file</a:t>
            </a:r>
            <a:br>
              <a:rPr lang="en-IN" dirty="0"/>
            </a:br>
            <a:r>
              <a:rPr lang="en-IN" b="1" dirty="0"/>
              <a:t>Application:</a:t>
            </a:r>
            <a:r>
              <a:rPr lang="en-IN" dirty="0"/>
              <a:t> Remote healthcare and assisted living</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4" name="Picture 3">
            <a:extLst>
              <a:ext uri="{FF2B5EF4-FFF2-40B4-BE49-F238E27FC236}">
                <a16:creationId xmlns:a16="http://schemas.microsoft.com/office/drawing/2014/main" id="{566986CE-6403-4576-9A06-A5EAB23160A7}"/>
              </a:ext>
            </a:extLst>
          </p:cNvPr>
          <p:cNvPicPr>
            <a:picLocks noChangeAspect="1"/>
          </p:cNvPicPr>
          <p:nvPr/>
        </p:nvPicPr>
        <p:blipFill rotWithShape="1">
          <a:blip r:embed="rId3"/>
          <a:srcRect t="7392" b="7599"/>
          <a:stretch/>
        </p:blipFill>
        <p:spPr>
          <a:xfrm>
            <a:off x="6681663" y="2309568"/>
            <a:ext cx="5173084" cy="29317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cNvSpPr>
            <a:spLocks noGrp="1"/>
          </p:cNvSpPr>
          <p:nvPr>
            <p:ph type="ftr" sz="quarter" idx="10"/>
          </p:nvPr>
        </p:nvSpPr>
        <p:spPr/>
        <p:txBody>
          <a:bodyPr/>
          <a:lstStyle/>
          <a:p>
            <a:fld id="{EB53C135-CEC6-A548-8917-8F7FEB82358B}" type="slidenum">
              <a:rPr lang="en-US" smtClean="0"/>
              <a:t>8</a:t>
            </a:fld>
            <a:endParaRPr lang="en-US" dirty="0"/>
          </a:p>
        </p:txBody>
      </p:sp>
      <p:sp>
        <p:nvSpPr>
          <p:cNvPr id="56" name="Content Placeholder 55"/>
          <p:cNvSpPr>
            <a:spLocks noGrp="1"/>
          </p:cNvSpPr>
          <p:nvPr>
            <p:ph idx="1"/>
          </p:nvPr>
        </p:nvSpPr>
        <p:spPr>
          <a:xfrm>
            <a:off x="644424" y="2090547"/>
            <a:ext cx="10137875" cy="3968249"/>
          </a:xfrm>
        </p:spPr>
        <p:txBody>
          <a:bodyPr/>
          <a:lstStyle/>
          <a:p>
            <a:pPr marL="0" indent="0">
              <a:buNone/>
            </a:pPr>
            <a:r>
              <a:rPr lang="en-US" sz="2000" b="1" dirty="0"/>
              <a:t>SMART MONITORING, SAFER LIVING</a:t>
            </a:r>
            <a:endParaRPr lang="en-US" sz="2000" dirty="0"/>
          </a:p>
          <a:p>
            <a:r>
              <a:rPr lang="en-US" sz="2000" dirty="0"/>
              <a:t>The Intelligent Remote Healthcare and Assisted Living Ecosystem demonstrates how IoT technology can be used to improve health and safety monitoring for people who require regular assistance. By combining health sensors, environmental monitoring, remote connectivity, emergency alerts, and automatic data storage, the system provides a practical and affordable monitoring solution.</a:t>
            </a:r>
          </a:p>
          <a:p>
            <a:r>
              <a:rPr lang="en-US" sz="2000" dirty="0"/>
              <a:t>The proposed system can help family members and caregivers stay informed about the user's condition and respond more quickly when abnormal situations or emergencies are detected.</a:t>
            </a:r>
          </a:p>
          <a:p>
            <a:pPr marL="0" indent="0">
              <a:buNone/>
            </a:pPr>
            <a:r>
              <a:rPr lang="en-US" sz="2000" dirty="0"/>
              <a:t> </a:t>
            </a:r>
            <a:endParaRPr lang="en-US" altLang="en-GB" sz="2000" dirty="0"/>
          </a:p>
        </p:txBody>
      </p:sp>
      <p:sp>
        <p:nvSpPr>
          <p:cNvPr id="58" name="Title 57"/>
          <p:cNvSpPr>
            <a:spLocks noGrp="1"/>
          </p:cNvSpPr>
          <p:nvPr>
            <p:ph type="title"/>
          </p:nvPr>
        </p:nvSpPr>
        <p:spPr/>
        <p:txBody>
          <a:bodyPr/>
          <a:lstStyle/>
          <a:p>
            <a:r>
              <a:rPr lang="en-IN" dirty="0"/>
              <a:t>CONCLUSION</a:t>
            </a:r>
          </a:p>
        </p:txBody>
      </p:sp>
      <p:sp>
        <p:nvSpPr>
          <p:cNvPr id="59" name="Rectangle 58"/>
          <p:cNvSpPr/>
          <p:nvPr/>
        </p:nvSpPr>
        <p:spPr>
          <a:xfrm>
            <a:off x="0" y="12699"/>
            <a:ext cx="12192000" cy="933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bg1"/>
                </a:solidFill>
              </a:rPr>
              <a:t> KNOWLEDGE INSTITUTE OF TECHNOLOGY</a:t>
            </a:r>
          </a:p>
        </p:txBody>
      </p:sp>
      <p:pic>
        <p:nvPicPr>
          <p:cNvPr id="60" name="Picture 2" descr="Knowledge Institute of Technology – Salem Tamilnad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1663" y="28295"/>
            <a:ext cx="892617" cy="892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UB Brand Colors">
      <a:dk1>
        <a:srgbClr val="666666"/>
      </a:dk1>
      <a:lt1>
        <a:srgbClr val="FFFFFF"/>
      </a:lt1>
      <a:dk2>
        <a:srgbClr val="005BBB"/>
      </a:dk2>
      <a:lt2>
        <a:srgbClr val="FFFFFF"/>
      </a:lt2>
      <a:accent1>
        <a:srgbClr val="005BBB"/>
      </a:accent1>
      <a:accent2>
        <a:srgbClr val="41B6E6"/>
      </a:accent2>
      <a:accent3>
        <a:srgbClr val="E56D54"/>
      </a:accent3>
      <a:accent4>
        <a:srgbClr val="666666"/>
      </a:accent4>
      <a:accent5>
        <a:srgbClr val="007681"/>
      </a:accent5>
      <a:accent6>
        <a:srgbClr val="003E51"/>
      </a:accent6>
      <a:hlink>
        <a:srgbClr val="005BBB"/>
      </a:hlink>
      <a:folHlink>
        <a:srgbClr val="D86A4E"/>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TotalTime>
  <Words>659</Words>
  <Application>Microsoft Office PowerPoint</Application>
  <PresentationFormat>Widescreen</PresentationFormat>
  <Paragraphs>54</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Arial Regular</vt:lpstr>
      <vt:lpstr>Georgia</vt:lpstr>
      <vt:lpstr>System Font Regular</vt:lpstr>
      <vt:lpstr>Office Theme</vt:lpstr>
      <vt:lpstr>INTELLIGENT REMOTE HEALTHCARE AND ASSISTED LIVING ECOSYSTEM</vt:lpstr>
      <vt:lpstr>INTELLIGENT REMOTE HEALTHCARE AND ASSISTED LIVING ECOSYSTEM</vt:lpstr>
      <vt:lpstr>Double Content Slide</vt:lpstr>
      <vt:lpstr>Key Features</vt:lpstr>
      <vt:lpstr>Comparison Slide</vt:lpstr>
      <vt:lpstr>Prototype</vt:lpstr>
      <vt:lpstr>Performance breakdown</vt:lpstr>
      <vt:lpstr>CONCLUSION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PowerPoint Presentation</dc:title>
  <dc:creator>Division of University Communications</dc:creator>
  <cp:lastModifiedBy>HP</cp:lastModifiedBy>
  <cp:revision>86</cp:revision>
  <dcterms:created xsi:type="dcterms:W3CDTF">2019-04-04T19:20:00Z</dcterms:created>
  <dcterms:modified xsi:type="dcterms:W3CDTF">2026-09-04T15:24:18Z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4C342E4BBCFE41E283F72596553517D2_13</vt:lpwstr>
  </property>
  <property fmtid="{D5CDD505-2E9C-101B-9397-08002B2CF9AE}" pid="3" name="KSOProductBuildVer">
    <vt:lpwstr>2057-12.2.0.23206</vt:lpwstr>
  </property>
</Properties>
</file>