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p:sldMasterIdLst>
    <p:sldMasterId id="2147483662" r:id="rId1"/>
    <p:sldMasterId id="2147483674" r:id="rId2"/>
    <p:sldMasterId id="2147483664" r:id="rId3"/>
    <p:sldMasterId id="2147483666" r:id="rId4"/>
    <p:sldMasterId id="2147483668" r:id="rId5"/>
    <p:sldMasterId id="2147483672" r:id="rId6"/>
  </p:sldMasterIdLst>
  <p:notesMasterIdLst>
    <p:notesMasterId r:id="rId8"/>
  </p:notesMasterIdLst>
  <p:handoutMasterIdLst>
    <p:handoutMasterId r:id="rId9"/>
  </p:handoutMasterIdLst>
  <p:sldIdLst>
    <p:sldId id="259" r:id="rId7"/>
  </p:sldIdLst>
  <p:sldSz cx="21388388" cy="30279975"/>
  <p:notesSz cx="14663738" cy="20926425"/>
  <p:embeddedFontLst>
    <p:embeddedFont>
      <p:font typeface="Rdg Vesta" panose="020B0604020202020204" charset="0"/>
      <p:regular r:id="rId10"/>
      <p:bold r:id="rId11"/>
      <p:italic r:id="rId12"/>
      <p:boldItalic r:id="rId13"/>
    </p:embeddedFont>
  </p:embeddedFontLst>
  <p:defaultTextStyle>
    <a:defPPr>
      <a:defRPr lang="en-GB"/>
    </a:defPPr>
    <a:lvl1pPr algn="l" rtl="0" fontAlgn="base">
      <a:spcBef>
        <a:spcPct val="0"/>
      </a:spcBef>
      <a:spcAft>
        <a:spcPct val="0"/>
      </a:spcAft>
      <a:defRPr sz="1300" kern="1200">
        <a:solidFill>
          <a:schemeClr val="tx1"/>
        </a:solidFill>
        <a:latin typeface="Rdg Vesta" pitchFamily="2" charset="0"/>
        <a:ea typeface="+mn-ea"/>
        <a:cs typeface="+mn-cs"/>
      </a:defRPr>
    </a:lvl1pPr>
    <a:lvl2pPr marL="457200" algn="l" rtl="0" fontAlgn="base">
      <a:spcBef>
        <a:spcPct val="0"/>
      </a:spcBef>
      <a:spcAft>
        <a:spcPct val="0"/>
      </a:spcAft>
      <a:defRPr sz="1300" kern="1200">
        <a:solidFill>
          <a:schemeClr val="tx1"/>
        </a:solidFill>
        <a:latin typeface="Rdg Vesta" pitchFamily="2" charset="0"/>
        <a:ea typeface="+mn-ea"/>
        <a:cs typeface="+mn-cs"/>
      </a:defRPr>
    </a:lvl2pPr>
    <a:lvl3pPr marL="914400" algn="l" rtl="0" fontAlgn="base">
      <a:spcBef>
        <a:spcPct val="0"/>
      </a:spcBef>
      <a:spcAft>
        <a:spcPct val="0"/>
      </a:spcAft>
      <a:defRPr sz="1300" kern="1200">
        <a:solidFill>
          <a:schemeClr val="tx1"/>
        </a:solidFill>
        <a:latin typeface="Rdg Vesta" pitchFamily="2" charset="0"/>
        <a:ea typeface="+mn-ea"/>
        <a:cs typeface="+mn-cs"/>
      </a:defRPr>
    </a:lvl3pPr>
    <a:lvl4pPr marL="1371600" algn="l" rtl="0" fontAlgn="base">
      <a:spcBef>
        <a:spcPct val="0"/>
      </a:spcBef>
      <a:spcAft>
        <a:spcPct val="0"/>
      </a:spcAft>
      <a:defRPr sz="1300" kern="1200">
        <a:solidFill>
          <a:schemeClr val="tx1"/>
        </a:solidFill>
        <a:latin typeface="Rdg Vesta" pitchFamily="2" charset="0"/>
        <a:ea typeface="+mn-ea"/>
        <a:cs typeface="+mn-cs"/>
      </a:defRPr>
    </a:lvl4pPr>
    <a:lvl5pPr marL="1828800" algn="l" rtl="0" fontAlgn="base">
      <a:spcBef>
        <a:spcPct val="0"/>
      </a:spcBef>
      <a:spcAft>
        <a:spcPct val="0"/>
      </a:spcAft>
      <a:defRPr sz="1300" kern="1200">
        <a:solidFill>
          <a:schemeClr val="tx1"/>
        </a:solidFill>
        <a:latin typeface="Rdg Vesta" pitchFamily="2" charset="0"/>
        <a:ea typeface="+mn-ea"/>
        <a:cs typeface="+mn-cs"/>
      </a:defRPr>
    </a:lvl5pPr>
    <a:lvl6pPr marL="2286000" algn="l" defTabSz="914400" rtl="0" eaLnBrk="1" latinLnBrk="0" hangingPunct="1">
      <a:defRPr sz="1300" kern="1200">
        <a:solidFill>
          <a:schemeClr val="tx1"/>
        </a:solidFill>
        <a:latin typeface="Rdg Vesta" pitchFamily="2" charset="0"/>
        <a:ea typeface="+mn-ea"/>
        <a:cs typeface="+mn-cs"/>
      </a:defRPr>
    </a:lvl6pPr>
    <a:lvl7pPr marL="2743200" algn="l" defTabSz="914400" rtl="0" eaLnBrk="1" latinLnBrk="0" hangingPunct="1">
      <a:defRPr sz="1300" kern="1200">
        <a:solidFill>
          <a:schemeClr val="tx1"/>
        </a:solidFill>
        <a:latin typeface="Rdg Vesta" pitchFamily="2" charset="0"/>
        <a:ea typeface="+mn-ea"/>
        <a:cs typeface="+mn-cs"/>
      </a:defRPr>
    </a:lvl7pPr>
    <a:lvl8pPr marL="3200400" algn="l" defTabSz="914400" rtl="0" eaLnBrk="1" latinLnBrk="0" hangingPunct="1">
      <a:defRPr sz="1300" kern="1200">
        <a:solidFill>
          <a:schemeClr val="tx1"/>
        </a:solidFill>
        <a:latin typeface="Rdg Vesta" pitchFamily="2" charset="0"/>
        <a:ea typeface="+mn-ea"/>
        <a:cs typeface="+mn-cs"/>
      </a:defRPr>
    </a:lvl8pPr>
    <a:lvl9pPr marL="3657600" algn="l" defTabSz="914400" rtl="0" eaLnBrk="1" latinLnBrk="0" hangingPunct="1">
      <a:defRPr sz="1300" kern="1200">
        <a:solidFill>
          <a:schemeClr val="tx1"/>
        </a:solidFill>
        <a:latin typeface="Rdg Vesta" pitchFamily="2" charset="0"/>
        <a:ea typeface="+mn-ea"/>
        <a:cs typeface="+mn-cs"/>
      </a:defRPr>
    </a:lvl9pPr>
  </p:defaultTextStyle>
  <p:extLst>
    <p:ext uri="{EFAFB233-063F-42B5-8137-9DF3F51BA10A}">
      <p15:sldGuideLst xmlns:p15="http://schemas.microsoft.com/office/powerpoint/2012/main">
        <p15:guide id="1" orient="horz">
          <p15:clr>
            <a:srgbClr val="A4A3A4"/>
          </p15:clr>
        </p15:guide>
        <p15:guide id="2" pos="522">
          <p15:clr>
            <a:srgbClr val="A4A3A4"/>
          </p15:clr>
        </p15:guide>
      </p15:sldGuideLst>
    </p:ext>
    <p:ext uri="{2D200454-40CA-4A62-9FC3-DE9A4176ACB9}">
      <p15:notesGuideLst xmlns:p15="http://schemas.microsoft.com/office/powerpoint/2012/main">
        <p15:guide id="1" orient="horz" pos="6591">
          <p15:clr>
            <a:srgbClr val="A4A3A4"/>
          </p15:clr>
        </p15:guide>
        <p15:guide id="2" pos="461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E6E6E6"/>
    <a:srgbClr val="106DB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38" autoAdjust="0"/>
    <p:restoredTop sz="97440" autoAdjust="0"/>
  </p:normalViewPr>
  <p:slideViewPr>
    <p:cSldViewPr showGuides="1">
      <p:cViewPr>
        <p:scale>
          <a:sx n="52" d="100"/>
          <a:sy n="52" d="100"/>
        </p:scale>
        <p:origin x="542" y="-2914"/>
      </p:cViewPr>
      <p:guideLst>
        <p:guide orient="horz"/>
        <p:guide pos="52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howGuides="1">
      <p:cViewPr varScale="1">
        <p:scale>
          <a:sx n="34" d="100"/>
          <a:sy n="34" d="100"/>
        </p:scale>
        <p:origin x="-3366" y="-90"/>
      </p:cViewPr>
      <p:guideLst>
        <p:guide orient="horz" pos="6591"/>
        <p:guide pos="461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4.fntdata"/><Relationship Id="rId3" Type="http://schemas.openxmlformats.org/officeDocument/2006/relationships/slideMaster" Target="slideMasters/slideMaster3.xml"/><Relationship Id="rId7" Type="http://schemas.openxmlformats.org/officeDocument/2006/relationships/slide" Target="slides/slide1.xml"/><Relationship Id="rId12" Type="http://schemas.openxmlformats.org/officeDocument/2006/relationships/font" Target="fonts/font3.fntdata"/><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font" Target="fonts/font2.fntdata"/><Relationship Id="rId5" Type="http://schemas.openxmlformats.org/officeDocument/2006/relationships/slideMaster" Target="slideMasters/slideMaster5.xml"/><Relationship Id="rId15" Type="http://schemas.openxmlformats.org/officeDocument/2006/relationships/viewProps" Target="viewProps.xml"/><Relationship Id="rId10" Type="http://schemas.openxmlformats.org/officeDocument/2006/relationships/font" Target="fonts/font1.fntdata"/><Relationship Id="rId4" Type="http://schemas.openxmlformats.org/officeDocument/2006/relationships/slideMaster" Target="slideMasters/slideMaster4.xml"/><Relationship Id="rId9" Type="http://schemas.openxmlformats.org/officeDocument/2006/relationships/handoutMaster" Target="handoutMasters/handoutMaster1.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6354763" cy="10461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en-GB"/>
          </a:p>
        </p:txBody>
      </p:sp>
      <p:sp>
        <p:nvSpPr>
          <p:cNvPr id="48131" name="Rectangle 3"/>
          <p:cNvSpPr>
            <a:spLocks noGrp="1" noChangeArrowheads="1"/>
          </p:cNvSpPr>
          <p:nvPr>
            <p:ph type="dt" sz="quarter" idx="1"/>
          </p:nvPr>
        </p:nvSpPr>
        <p:spPr bwMode="auto">
          <a:xfrm>
            <a:off x="8305800" y="0"/>
            <a:ext cx="6354763" cy="10461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endParaRPr lang="en-GB"/>
          </a:p>
        </p:txBody>
      </p:sp>
      <p:sp>
        <p:nvSpPr>
          <p:cNvPr id="48132" name="Rectangle 4"/>
          <p:cNvSpPr>
            <a:spLocks noGrp="1" noChangeArrowheads="1"/>
          </p:cNvSpPr>
          <p:nvPr>
            <p:ph type="ftr" sz="quarter" idx="2"/>
          </p:nvPr>
        </p:nvSpPr>
        <p:spPr bwMode="auto">
          <a:xfrm>
            <a:off x="0" y="19877088"/>
            <a:ext cx="6354763" cy="10461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GB"/>
          </a:p>
        </p:txBody>
      </p:sp>
      <p:sp>
        <p:nvSpPr>
          <p:cNvPr id="48133" name="Rectangle 5"/>
          <p:cNvSpPr>
            <a:spLocks noGrp="1" noChangeArrowheads="1"/>
          </p:cNvSpPr>
          <p:nvPr>
            <p:ph type="sldNum" sz="quarter" idx="3"/>
          </p:nvPr>
        </p:nvSpPr>
        <p:spPr bwMode="auto">
          <a:xfrm>
            <a:off x="8305800" y="19877088"/>
            <a:ext cx="6354763" cy="10461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4106BD75-3EFD-4C18-B180-068DCC7276BD}" type="slidenum">
              <a:rPr lang="en-GB"/>
              <a:pPr>
                <a:defRPr/>
              </a:pPr>
              <a:t>‹#›</a:t>
            </a:fld>
            <a:endParaRPr lang="en-GB"/>
          </a:p>
        </p:txBody>
      </p:sp>
    </p:spTree>
    <p:extLst>
      <p:ext uri="{BB962C8B-B14F-4D97-AF65-F5344CB8AC3E}">
        <p14:creationId xmlns:p14="http://schemas.microsoft.com/office/powerpoint/2010/main" val="17584212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6354763" cy="1049338"/>
          </a:xfrm>
          <a:prstGeom prst="rect">
            <a:avLst/>
          </a:prstGeom>
          <a:noFill/>
          <a:ln w="9525">
            <a:noFill/>
            <a:miter lim="800000"/>
            <a:headEnd/>
            <a:tailEnd/>
          </a:ln>
          <a:effectLst/>
        </p:spPr>
        <p:txBody>
          <a:bodyPr vert="horz" wrap="square" lIns="203246" tIns="101626" rIns="203246" bIns="101626" numCol="1" anchor="t" anchorCtr="0" compatLnSpc="1">
            <a:prstTxWarp prst="textNoShape">
              <a:avLst/>
            </a:prstTxWarp>
          </a:bodyPr>
          <a:lstStyle>
            <a:lvl1pPr defTabSz="2033588" eaLnBrk="0" hangingPunct="0">
              <a:defRPr sz="2700"/>
            </a:lvl1pPr>
          </a:lstStyle>
          <a:p>
            <a:pPr>
              <a:defRPr/>
            </a:pPr>
            <a:endParaRPr lang="en-GB"/>
          </a:p>
        </p:txBody>
      </p:sp>
      <p:sp>
        <p:nvSpPr>
          <p:cNvPr id="4099" name="Rectangle 3"/>
          <p:cNvSpPr>
            <a:spLocks noGrp="1" noChangeArrowheads="1"/>
          </p:cNvSpPr>
          <p:nvPr>
            <p:ph type="dt" idx="1"/>
          </p:nvPr>
        </p:nvSpPr>
        <p:spPr bwMode="auto">
          <a:xfrm>
            <a:off x="8305800" y="0"/>
            <a:ext cx="6356350" cy="1049338"/>
          </a:xfrm>
          <a:prstGeom prst="rect">
            <a:avLst/>
          </a:prstGeom>
          <a:noFill/>
          <a:ln w="9525">
            <a:noFill/>
            <a:miter lim="800000"/>
            <a:headEnd/>
            <a:tailEnd/>
          </a:ln>
          <a:effectLst/>
        </p:spPr>
        <p:txBody>
          <a:bodyPr vert="horz" wrap="square" lIns="203246" tIns="101626" rIns="203246" bIns="101626" numCol="1" anchor="t" anchorCtr="0" compatLnSpc="1">
            <a:prstTxWarp prst="textNoShape">
              <a:avLst/>
            </a:prstTxWarp>
          </a:bodyPr>
          <a:lstStyle>
            <a:lvl1pPr algn="r" defTabSz="2033588" eaLnBrk="0" hangingPunct="0">
              <a:defRPr sz="2700"/>
            </a:lvl1pPr>
          </a:lstStyle>
          <a:p>
            <a:pPr>
              <a:defRPr/>
            </a:pPr>
            <a:endParaRPr lang="en-GB"/>
          </a:p>
        </p:txBody>
      </p:sp>
      <p:sp>
        <p:nvSpPr>
          <p:cNvPr id="3076" name="Rectangle 4"/>
          <p:cNvSpPr>
            <a:spLocks noGrp="1" noRot="1" noChangeAspect="1" noChangeArrowheads="1" noTextEdit="1"/>
          </p:cNvSpPr>
          <p:nvPr>
            <p:ph type="sldImg" idx="2"/>
          </p:nvPr>
        </p:nvSpPr>
        <p:spPr bwMode="auto">
          <a:xfrm>
            <a:off x="4564063" y="1570038"/>
            <a:ext cx="5543550" cy="7850187"/>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1466850" y="9942513"/>
            <a:ext cx="11730038" cy="9413875"/>
          </a:xfrm>
          <a:prstGeom prst="rect">
            <a:avLst/>
          </a:prstGeom>
          <a:noFill/>
          <a:ln w="9525">
            <a:noFill/>
            <a:miter lim="800000"/>
            <a:headEnd/>
            <a:tailEnd/>
          </a:ln>
          <a:effectLst/>
        </p:spPr>
        <p:txBody>
          <a:bodyPr vert="horz" wrap="square" lIns="203246" tIns="101626" rIns="203246" bIns="101626"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102" name="Rectangle 6"/>
          <p:cNvSpPr>
            <a:spLocks noGrp="1" noChangeArrowheads="1"/>
          </p:cNvSpPr>
          <p:nvPr>
            <p:ph type="ftr" sz="quarter" idx="4"/>
          </p:nvPr>
        </p:nvSpPr>
        <p:spPr bwMode="auto">
          <a:xfrm>
            <a:off x="0" y="19877088"/>
            <a:ext cx="6354763" cy="1047750"/>
          </a:xfrm>
          <a:prstGeom prst="rect">
            <a:avLst/>
          </a:prstGeom>
          <a:noFill/>
          <a:ln w="9525">
            <a:noFill/>
            <a:miter lim="800000"/>
            <a:headEnd/>
            <a:tailEnd/>
          </a:ln>
          <a:effectLst/>
        </p:spPr>
        <p:txBody>
          <a:bodyPr vert="horz" wrap="square" lIns="203246" tIns="101626" rIns="203246" bIns="101626" numCol="1" anchor="b" anchorCtr="0" compatLnSpc="1">
            <a:prstTxWarp prst="textNoShape">
              <a:avLst/>
            </a:prstTxWarp>
          </a:bodyPr>
          <a:lstStyle>
            <a:lvl1pPr defTabSz="2033588" eaLnBrk="0" hangingPunct="0">
              <a:defRPr sz="2700"/>
            </a:lvl1pPr>
          </a:lstStyle>
          <a:p>
            <a:pPr>
              <a:defRPr/>
            </a:pPr>
            <a:endParaRPr lang="en-GB"/>
          </a:p>
        </p:txBody>
      </p:sp>
      <p:sp>
        <p:nvSpPr>
          <p:cNvPr id="4103" name="Rectangle 7"/>
          <p:cNvSpPr>
            <a:spLocks noGrp="1" noChangeArrowheads="1"/>
          </p:cNvSpPr>
          <p:nvPr>
            <p:ph type="sldNum" sz="quarter" idx="5"/>
          </p:nvPr>
        </p:nvSpPr>
        <p:spPr bwMode="auto">
          <a:xfrm>
            <a:off x="8305800" y="19877088"/>
            <a:ext cx="6356350" cy="1047750"/>
          </a:xfrm>
          <a:prstGeom prst="rect">
            <a:avLst/>
          </a:prstGeom>
          <a:noFill/>
          <a:ln w="9525">
            <a:noFill/>
            <a:miter lim="800000"/>
            <a:headEnd/>
            <a:tailEnd/>
          </a:ln>
          <a:effectLst/>
        </p:spPr>
        <p:txBody>
          <a:bodyPr vert="horz" wrap="square" lIns="203246" tIns="101626" rIns="203246" bIns="101626" numCol="1" anchor="b" anchorCtr="0" compatLnSpc="1">
            <a:prstTxWarp prst="textNoShape">
              <a:avLst/>
            </a:prstTxWarp>
          </a:bodyPr>
          <a:lstStyle>
            <a:lvl1pPr algn="r" defTabSz="2033588" eaLnBrk="0" hangingPunct="0">
              <a:defRPr sz="2700"/>
            </a:lvl1pPr>
          </a:lstStyle>
          <a:p>
            <a:pPr>
              <a:defRPr/>
            </a:pPr>
            <a:fld id="{5778D20B-1032-4243-B265-D2D63470AEBF}" type="slidenum">
              <a:rPr lang="en-GB"/>
              <a:pPr>
                <a:defRPr/>
              </a:pPr>
              <a:t>‹#›</a:t>
            </a:fld>
            <a:endParaRPr lang="en-GB"/>
          </a:p>
        </p:txBody>
      </p:sp>
    </p:spTree>
    <p:extLst>
      <p:ext uri="{BB962C8B-B14F-4D97-AF65-F5344CB8AC3E}">
        <p14:creationId xmlns:p14="http://schemas.microsoft.com/office/powerpoint/2010/main" val="294753096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Rdg Vesta" pitchFamily="2" charset="0"/>
        <a:ea typeface="+mn-ea"/>
        <a:cs typeface="+mn-cs"/>
      </a:defRPr>
    </a:lvl1pPr>
    <a:lvl2pPr marL="457200" algn="l" rtl="0" eaLnBrk="0" fontAlgn="base" hangingPunct="0">
      <a:spcBef>
        <a:spcPct val="30000"/>
      </a:spcBef>
      <a:spcAft>
        <a:spcPct val="0"/>
      </a:spcAft>
      <a:defRPr sz="1200" kern="1200">
        <a:solidFill>
          <a:schemeClr val="tx1"/>
        </a:solidFill>
        <a:latin typeface="Rdg Vesta" pitchFamily="2" charset="0"/>
        <a:ea typeface="+mn-ea"/>
        <a:cs typeface="+mn-cs"/>
      </a:defRPr>
    </a:lvl2pPr>
    <a:lvl3pPr marL="914400" algn="l" rtl="0" eaLnBrk="0" fontAlgn="base" hangingPunct="0">
      <a:spcBef>
        <a:spcPct val="30000"/>
      </a:spcBef>
      <a:spcAft>
        <a:spcPct val="0"/>
      </a:spcAft>
      <a:defRPr sz="1200" kern="1200">
        <a:solidFill>
          <a:schemeClr val="tx1"/>
        </a:solidFill>
        <a:latin typeface="Rdg Vesta" pitchFamily="2" charset="0"/>
        <a:ea typeface="+mn-ea"/>
        <a:cs typeface="+mn-cs"/>
      </a:defRPr>
    </a:lvl3pPr>
    <a:lvl4pPr marL="1371600" algn="l" rtl="0" eaLnBrk="0" fontAlgn="base" hangingPunct="0">
      <a:spcBef>
        <a:spcPct val="30000"/>
      </a:spcBef>
      <a:spcAft>
        <a:spcPct val="0"/>
      </a:spcAft>
      <a:defRPr sz="1200" kern="1200">
        <a:solidFill>
          <a:schemeClr val="tx1"/>
        </a:solidFill>
        <a:latin typeface="Rdg Vesta" pitchFamily="2" charset="0"/>
        <a:ea typeface="+mn-ea"/>
        <a:cs typeface="+mn-cs"/>
      </a:defRPr>
    </a:lvl4pPr>
    <a:lvl5pPr marL="1828800" algn="l" rtl="0" eaLnBrk="0" fontAlgn="base" hangingPunct="0">
      <a:spcBef>
        <a:spcPct val="30000"/>
      </a:spcBef>
      <a:spcAft>
        <a:spcPct val="0"/>
      </a:spcAft>
      <a:defRPr sz="1200" kern="1200">
        <a:solidFill>
          <a:schemeClr val="tx1"/>
        </a:solidFill>
        <a:latin typeface="Rdg Vesta"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5778D20B-1032-4243-B265-D2D63470AEBF}" type="slidenum">
              <a:rPr lang="en-GB" smtClean="0"/>
              <a:pPr>
                <a:defRPr/>
              </a:pPr>
              <a:t>1</a:t>
            </a:fld>
            <a:endParaRPr lang="en-GB"/>
          </a:p>
        </p:txBody>
      </p:sp>
    </p:spTree>
    <p:extLst>
      <p:ext uri="{BB962C8B-B14F-4D97-AF65-F5344CB8AC3E}">
        <p14:creationId xmlns:p14="http://schemas.microsoft.com/office/powerpoint/2010/main" val="3180808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5" name="Content Placeholder 2"/>
          <p:cNvSpPr>
            <a:spLocks noGrp="1"/>
          </p:cNvSpPr>
          <p:nvPr>
            <p:ph idx="1"/>
          </p:nvPr>
        </p:nvSpPr>
        <p:spPr>
          <a:xfrm>
            <a:off x="736600" y="5635625"/>
            <a:ext cx="9344025" cy="23852186"/>
          </a:xfrm>
          <a:prstGeom prst="rect">
            <a:avLst/>
          </a:prstGeom>
        </p:spPr>
        <p:txBody>
          <a:bodyPr/>
          <a:lstStyle>
            <a:lvl1pPr marL="0" indent="0">
              <a:spcBef>
                <a:spcPts val="1400"/>
              </a:spcBef>
              <a:buNone/>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endParaRPr kumimoji="0" lang="en-US"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 name="Title 1"/>
          <p:cNvSpPr>
            <a:spLocks noGrp="1"/>
          </p:cNvSpPr>
          <p:nvPr>
            <p:ph type="title"/>
          </p:nvPr>
        </p:nvSpPr>
        <p:spPr/>
        <p:txBody>
          <a:bodyPr/>
          <a:lstStyle>
            <a:lvl1pPr>
              <a:defRPr b="1"/>
            </a:lvl1pPr>
          </a:lstStyle>
          <a:p>
            <a:r>
              <a:rPr lang="en-US" dirty="0"/>
              <a:t>Click to edit Master title style</a:t>
            </a:r>
            <a:endParaRPr lang="en-GB" dirty="0"/>
          </a:p>
        </p:txBody>
      </p:sp>
    </p:spTree>
    <p:extLst>
      <p:ext uri="{BB962C8B-B14F-4D97-AF65-F5344CB8AC3E}">
        <p14:creationId xmlns:p14="http://schemas.microsoft.com/office/powerpoint/2010/main" val="1796732571"/>
      </p:ext>
    </p:extLst>
  </p:cSld>
  <p:clrMapOvr>
    <a:masterClrMapping/>
  </p:clrMapOvr>
  <p:extLst mod="1">
    <p:ext uri="{DCECCB84-F9BA-43D5-87BE-67443E8EF086}">
      <p15:sldGuideLst xmlns:p15="http://schemas.microsoft.com/office/powerpoint/2012/main">
        <p15:guide id="1" orient="horz" pos="9537" userDrawn="1">
          <p15:clr>
            <a:srgbClr val="FBAE40"/>
          </p15:clr>
        </p15:guide>
        <p15:guide id="2" pos="673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dirty="0"/>
          </a:p>
        </p:txBody>
      </p:sp>
      <p:sp>
        <p:nvSpPr>
          <p:cNvPr id="6" name="Content Placeholder 2">
            <a:extLst>
              <a:ext uri="{FF2B5EF4-FFF2-40B4-BE49-F238E27FC236}">
                <a16:creationId xmlns:a16="http://schemas.microsoft.com/office/drawing/2014/main" id="{3F871DA3-C206-4958-9304-C821B2F6EC32}"/>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3790417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dirty="0"/>
          </a:p>
        </p:txBody>
      </p:sp>
      <p:sp>
        <p:nvSpPr>
          <p:cNvPr id="4" name="Content Placeholder 2">
            <a:extLst>
              <a:ext uri="{FF2B5EF4-FFF2-40B4-BE49-F238E27FC236}">
                <a16:creationId xmlns:a16="http://schemas.microsoft.com/office/drawing/2014/main" id="{FEF963AC-AD21-4E43-A16C-AB75B1463121}"/>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2123904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dirty="0"/>
          </a:p>
        </p:txBody>
      </p:sp>
      <p:sp>
        <p:nvSpPr>
          <p:cNvPr id="4" name="Content Placeholder 2">
            <a:extLst>
              <a:ext uri="{FF2B5EF4-FFF2-40B4-BE49-F238E27FC236}">
                <a16:creationId xmlns:a16="http://schemas.microsoft.com/office/drawing/2014/main" id="{2EAAAEFD-1EC9-4039-9D31-AFE1B8B611A6}"/>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1466869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dirty="0"/>
          </a:p>
        </p:txBody>
      </p:sp>
      <p:sp>
        <p:nvSpPr>
          <p:cNvPr id="6" name="Content Placeholder 2">
            <a:extLst>
              <a:ext uri="{FF2B5EF4-FFF2-40B4-BE49-F238E27FC236}">
                <a16:creationId xmlns:a16="http://schemas.microsoft.com/office/drawing/2014/main" id="{A7515D96-1650-49B2-A79A-A2009C1C3600}"/>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37179221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dirty="0"/>
          </a:p>
        </p:txBody>
      </p:sp>
      <p:sp>
        <p:nvSpPr>
          <p:cNvPr id="4" name="Content Placeholder 2">
            <a:extLst>
              <a:ext uri="{FF2B5EF4-FFF2-40B4-BE49-F238E27FC236}">
                <a16:creationId xmlns:a16="http://schemas.microsoft.com/office/drawing/2014/main" id="{5A380693-CD9F-49AC-BAC4-1F4C633D6CD3}"/>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41927232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467045"/>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400" dirty="0">
                <a:solidFill>
                  <a:srgbClr val="FFFFFF"/>
                </a:solidFill>
                <a:latin typeface="Arial" panose="020B0604020202020204" pitchFamily="34" charset="0"/>
                <a:cs typeface="Arial" panose="020B0604020202020204" pitchFamily="34" charset="0"/>
              </a:rPr>
              <a:t>SRIDHAR B </a:t>
            </a:r>
            <a:r>
              <a:rPr lang="en-GB" sz="2400" dirty="0">
                <a:solidFill>
                  <a:schemeClr val="accent5"/>
                </a:solidFill>
                <a:latin typeface="Arial" panose="020B0604020202020204" pitchFamily="34" charset="0"/>
                <a:cs typeface="Arial" panose="020B0604020202020204" pitchFamily="34" charset="0"/>
              </a:rPr>
              <a:t>|</a:t>
            </a:r>
            <a:r>
              <a:rPr lang="en-GB" sz="2400" dirty="0">
                <a:solidFill>
                  <a:srgbClr val="FFFFFF"/>
                </a:solidFill>
                <a:latin typeface="Arial" panose="020B0604020202020204" pitchFamily="34" charset="0"/>
                <a:cs typeface="Arial" panose="020B0604020202020204" pitchFamily="34" charset="0"/>
              </a:rPr>
              <a:t>   YOGESWARI G   </a:t>
            </a:r>
            <a:r>
              <a:rPr lang="en-GB" sz="2400" dirty="0">
                <a:solidFill>
                  <a:schemeClr val="accent5"/>
                </a:solidFill>
                <a:latin typeface="Arial" panose="020B0604020202020204" pitchFamily="34" charset="0"/>
                <a:cs typeface="Arial" panose="020B0604020202020204" pitchFamily="34" charset="0"/>
              </a:rPr>
              <a:t>|</a:t>
            </a:r>
            <a:r>
              <a:rPr lang="en-GB" sz="2400" dirty="0">
                <a:solidFill>
                  <a:srgbClr val="FFFFFF"/>
                </a:solidFill>
                <a:latin typeface="Arial" panose="020B0604020202020204" pitchFamily="34" charset="0"/>
                <a:cs typeface="Arial" panose="020B0604020202020204" pitchFamily="34" charset="0"/>
              </a:rPr>
              <a:t>   MAHENDIRAN M   </a:t>
            </a:r>
            <a:r>
              <a:rPr lang="en-GB" sz="2400" dirty="0">
                <a:solidFill>
                  <a:schemeClr val="accent5"/>
                </a:solidFill>
                <a:latin typeface="Arial" panose="020B0604020202020204" pitchFamily="34" charset="0"/>
                <a:cs typeface="Arial" panose="020B0604020202020204" pitchFamily="34" charset="0"/>
              </a:rPr>
              <a:t>|</a:t>
            </a:r>
            <a:r>
              <a:rPr lang="en-GB" sz="2400" dirty="0">
                <a:solidFill>
                  <a:srgbClr val="FFFFFF"/>
                </a:solidFill>
                <a:latin typeface="Arial" panose="020B0604020202020204" pitchFamily="34" charset="0"/>
                <a:cs typeface="Arial" panose="020B0604020202020204" pitchFamily="34" charset="0"/>
              </a:rPr>
              <a:t>   SARATH M R </a:t>
            </a: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29" name="Picture 34" descr="KIOT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dirty="0"/>
              <a:t>Click to edit </a:t>
            </a:r>
            <a:br>
              <a:rPr lang="en-GB" dirty="0"/>
            </a:br>
            <a:r>
              <a:rPr lang="en-GB" dirty="0"/>
              <a:t>Master title style</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1472268828"/>
      </p:ext>
    </p:extLst>
  </p:cSld>
  <p:clrMap bg1="lt1" tx1="dk1" bg2="lt2" tx2="dk2" accent1="accent1" accent2="accent2" accent3="accent3" accent4="accent4" accent5="accent5" accent6="accent6" hlink="hlink" folHlink="folHlink"/>
  <p:sldLayoutIdLst>
    <p:sldLayoutId id="2147483663"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9537" userDrawn="1">
          <p15:clr>
            <a:srgbClr val="F26B43"/>
          </p15:clr>
        </p15:guide>
        <p15:guide id="2" pos="673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dirty="0">
                <a:solidFill>
                  <a:srgbClr val="FFFFFF"/>
                </a:solidFill>
                <a:latin typeface="Arial" panose="020B0604020202020204" pitchFamily="34" charset="0"/>
                <a:cs typeface="Arial" panose="020B0604020202020204" pitchFamily="34" charset="0"/>
              </a:rPr>
              <a:t>Author 1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2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3   (edit this list via View &gt; Slide Master)</a:t>
            </a:r>
            <a:endParaRPr lang="en-GB" sz="2000" dirty="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29" name="Picture 34" descr="KIOT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dirty="0"/>
              <a:t>Click to edit </a:t>
            </a:r>
            <a:br>
              <a:rPr lang="en-GB" dirty="0"/>
            </a:br>
            <a:r>
              <a:rPr lang="en-GB" dirty="0"/>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dirty="0">
                <a:solidFill>
                  <a:srgbClr val="FFFFFF"/>
                </a:solidFill>
                <a:latin typeface="Arial" panose="020B0604020202020204" pitchFamily="34" charset="0"/>
                <a:cs typeface="Arial" panose="020B0604020202020204" pitchFamily="34" charset="0"/>
              </a:rPr>
              <a:t>Insert your unit name via </a:t>
            </a:r>
            <a:br>
              <a:rPr lang="en-GB" sz="2300" b="1" dirty="0">
                <a:solidFill>
                  <a:srgbClr val="FFFFFF"/>
                </a:solidFill>
                <a:latin typeface="Arial" panose="020B0604020202020204" pitchFamily="34" charset="0"/>
                <a:cs typeface="Arial" panose="020B0604020202020204" pitchFamily="34" charset="0"/>
              </a:rPr>
            </a:br>
            <a:r>
              <a:rPr lang="en-GB" sz="2300" b="1" dirty="0">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1241107756"/>
      </p:ext>
    </p:extLst>
  </p:cSld>
  <p:clrMap bg1="lt1" tx1="dk1" bg2="lt2" tx2="dk2" accent1="accent1" accent2="accent2" accent3="accent3" accent4="accent4" accent5="accent5" accent6="accent6" hlink="hlink" folHlink="folHlink"/>
  <p:sldLayoutIdLst>
    <p:sldLayoutId id="2147483675"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537" userDrawn="1">
          <p15:clr>
            <a:srgbClr val="F26B43"/>
          </p15:clr>
        </p15:guide>
        <p15:guide id="2" pos="6736"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dirty="0">
                <a:solidFill>
                  <a:srgbClr val="FFFFFF"/>
                </a:solidFill>
                <a:latin typeface="Arial" panose="020B0604020202020204" pitchFamily="34" charset="0"/>
                <a:cs typeface="Arial" panose="020B0604020202020204" pitchFamily="34" charset="0"/>
              </a:rPr>
              <a:t>Author 1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2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3   (edit this list via View &gt; Slide Master)</a:t>
            </a:r>
            <a:endParaRPr lang="en-GB" sz="2000" dirty="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29" name="Picture 34" descr="KIOT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dirty="0"/>
              <a:t>Click to edit </a:t>
            </a:r>
            <a:br>
              <a:rPr lang="en-GB" dirty="0"/>
            </a:br>
            <a:r>
              <a:rPr lang="en-GB" dirty="0"/>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dirty="0">
                <a:solidFill>
                  <a:srgbClr val="FFFFFF"/>
                </a:solidFill>
                <a:latin typeface="Arial" panose="020B0604020202020204" pitchFamily="34" charset="0"/>
                <a:cs typeface="Arial" panose="020B0604020202020204" pitchFamily="34" charset="0"/>
              </a:rPr>
              <a:t>Insert your unit name via </a:t>
            </a:r>
            <a:br>
              <a:rPr lang="en-GB" sz="2300" b="1" dirty="0">
                <a:solidFill>
                  <a:srgbClr val="FFFFFF"/>
                </a:solidFill>
                <a:latin typeface="Arial" panose="020B0604020202020204" pitchFamily="34" charset="0"/>
                <a:cs typeface="Arial" panose="020B0604020202020204" pitchFamily="34" charset="0"/>
              </a:rPr>
            </a:br>
            <a:r>
              <a:rPr lang="en-GB" sz="2300" b="1" dirty="0">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3716540771"/>
      </p:ext>
    </p:extLst>
  </p:cSld>
  <p:clrMap bg1="lt1" tx1="dk1" bg2="lt2" tx2="dk2" accent1="accent1" accent2="accent2" accent3="accent3" accent4="accent4" accent5="accent5" accent6="accent6" hlink="hlink" folHlink="folHlink"/>
  <p:sldLayoutIdLst>
    <p:sldLayoutId id="2147483665"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dirty="0">
                <a:solidFill>
                  <a:srgbClr val="FFFFFF"/>
                </a:solidFill>
                <a:latin typeface="Arial" panose="020B0604020202020204" pitchFamily="34" charset="0"/>
                <a:cs typeface="Arial" panose="020B0604020202020204" pitchFamily="34" charset="0"/>
              </a:rPr>
              <a:t>Author 1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2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3   (edit this list via View &gt; Slide Master)</a:t>
            </a:r>
            <a:endParaRPr lang="en-GB" sz="2000" dirty="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29" name="Picture 34" descr="KIOT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dirty="0"/>
              <a:t>Click to edit </a:t>
            </a:r>
            <a:br>
              <a:rPr lang="en-GB" dirty="0"/>
            </a:br>
            <a:r>
              <a:rPr lang="en-GB" dirty="0"/>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dirty="0">
                <a:solidFill>
                  <a:srgbClr val="FFFFFF"/>
                </a:solidFill>
                <a:latin typeface="Arial" panose="020B0604020202020204" pitchFamily="34" charset="0"/>
                <a:cs typeface="Arial" panose="020B0604020202020204" pitchFamily="34" charset="0"/>
              </a:rPr>
              <a:t>Insert your unit name via </a:t>
            </a:r>
            <a:br>
              <a:rPr lang="en-GB" sz="2300" b="1" dirty="0">
                <a:solidFill>
                  <a:srgbClr val="FFFFFF"/>
                </a:solidFill>
                <a:latin typeface="Arial" panose="020B0604020202020204" pitchFamily="34" charset="0"/>
                <a:cs typeface="Arial" panose="020B0604020202020204" pitchFamily="34" charset="0"/>
              </a:rPr>
            </a:br>
            <a:r>
              <a:rPr lang="en-GB" sz="2300" b="1" dirty="0">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3047432918"/>
      </p:ext>
    </p:extLst>
  </p:cSld>
  <p:clrMap bg1="lt1" tx1="dk1" bg2="lt2" tx2="dk2" accent1="accent1" accent2="accent2" accent3="accent3" accent4="accent4" accent5="accent5" accent6="accent6" hlink="hlink" folHlink="folHlink"/>
  <p:sldLayoutIdLst>
    <p:sldLayoutId id="2147483667"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dirty="0">
                <a:solidFill>
                  <a:srgbClr val="FFFFFF"/>
                </a:solidFill>
                <a:latin typeface="Arial" panose="020B0604020202020204" pitchFamily="34" charset="0"/>
                <a:cs typeface="Arial" panose="020B0604020202020204" pitchFamily="34" charset="0"/>
              </a:rPr>
              <a:t>Author 1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2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3   (edit this list via View &gt; Slide Master)</a:t>
            </a:r>
            <a:endParaRPr lang="en-GB" sz="2000" dirty="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29" name="Picture 34" descr="KIOT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dirty="0"/>
              <a:t>Click to edit </a:t>
            </a:r>
            <a:br>
              <a:rPr lang="en-GB" dirty="0"/>
            </a:br>
            <a:r>
              <a:rPr lang="en-GB" dirty="0"/>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dirty="0">
                <a:solidFill>
                  <a:srgbClr val="FFFFFF"/>
                </a:solidFill>
                <a:latin typeface="Arial" panose="020B0604020202020204" pitchFamily="34" charset="0"/>
                <a:cs typeface="Arial" panose="020B0604020202020204" pitchFamily="34" charset="0"/>
              </a:rPr>
              <a:t>Insert your unit name via </a:t>
            </a:r>
            <a:br>
              <a:rPr lang="en-GB" sz="2300" b="1" dirty="0">
                <a:solidFill>
                  <a:srgbClr val="FFFFFF"/>
                </a:solidFill>
                <a:latin typeface="Arial" panose="020B0604020202020204" pitchFamily="34" charset="0"/>
                <a:cs typeface="Arial" panose="020B0604020202020204" pitchFamily="34" charset="0"/>
              </a:rPr>
            </a:br>
            <a:r>
              <a:rPr lang="en-GB" sz="2300" b="1" dirty="0">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2523296050"/>
      </p:ext>
    </p:extLst>
  </p:cSld>
  <p:clrMap bg1="lt1" tx1="dk1" bg2="lt2" tx2="dk2" accent1="accent1" accent2="accent2" accent3="accent3" accent4="accent4" accent5="accent5" accent6="accent6" hlink="hlink" folHlink="folHlink"/>
  <p:sldLayoutIdLst>
    <p:sldLayoutId id="2147483669"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dirty="0">
                <a:solidFill>
                  <a:srgbClr val="FFFFFF"/>
                </a:solidFill>
                <a:latin typeface="Arial" panose="020B0604020202020204" pitchFamily="34" charset="0"/>
                <a:cs typeface="Arial" panose="020B0604020202020204" pitchFamily="34" charset="0"/>
              </a:rPr>
              <a:t>Author 1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2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3   (edit this list via View &gt; Slide Master)</a:t>
            </a:r>
            <a:endParaRPr lang="en-GB" sz="2000" dirty="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29" name="Picture 34" descr="KIOT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dirty="0"/>
              <a:t>Click to edit </a:t>
            </a:r>
            <a:br>
              <a:rPr lang="en-GB" dirty="0"/>
            </a:br>
            <a:r>
              <a:rPr lang="en-GB" dirty="0"/>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dirty="0">
                <a:solidFill>
                  <a:srgbClr val="FFFFFF"/>
                </a:solidFill>
                <a:latin typeface="Arial" panose="020B0604020202020204" pitchFamily="34" charset="0"/>
                <a:cs typeface="Arial" panose="020B0604020202020204" pitchFamily="34" charset="0"/>
              </a:rPr>
              <a:t>Insert your unit name via </a:t>
            </a:r>
            <a:br>
              <a:rPr lang="en-GB" sz="2300" b="1" dirty="0">
                <a:solidFill>
                  <a:srgbClr val="FFFFFF"/>
                </a:solidFill>
                <a:latin typeface="Arial" panose="020B0604020202020204" pitchFamily="34" charset="0"/>
                <a:cs typeface="Arial" panose="020B0604020202020204" pitchFamily="34" charset="0"/>
              </a:rPr>
            </a:br>
            <a:r>
              <a:rPr lang="en-GB" sz="2300" b="1" dirty="0">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635950697"/>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ChangeArrowheads="1"/>
          </p:cNvSpPr>
          <p:nvPr/>
        </p:nvSpPr>
        <p:spPr bwMode="auto">
          <a:xfrm>
            <a:off x="323850" y="5635625"/>
            <a:ext cx="10217149" cy="24120052"/>
          </a:xfrm>
          <a:prstGeom prst="rect">
            <a:avLst/>
          </a:prstGeom>
          <a:noFill/>
          <a:ln w="9525">
            <a:noFill/>
            <a:miter lim="800000"/>
            <a:headEnd/>
            <a:tailEnd/>
          </a:ln>
          <a:effectLst/>
        </p:spPr>
        <p:txBody>
          <a:bodyPr lIns="0" tIns="0" rIns="0" bIns="0"/>
          <a:lstStyle/>
          <a:p>
            <a:pPr marL="446088" indent="-446088">
              <a:spcBef>
                <a:spcPts val="0"/>
              </a:spcBef>
              <a:buNone/>
            </a:pPr>
            <a:r>
              <a:rPr lang="en-GB" sz="3300" b="1" kern="1200" dirty="0">
                <a:solidFill>
                  <a:schemeClr val="tx2"/>
                </a:solidFill>
                <a:latin typeface="Arial" panose="020B0604020202020204" pitchFamily="34" charset="0"/>
                <a:cs typeface="Arial" panose="020B0604020202020204" pitchFamily="34" charset="0"/>
              </a:rPr>
              <a:t>   </a:t>
            </a:r>
            <a:r>
              <a:rPr lang="en-GB" sz="2400" b="1" kern="1200" dirty="0">
                <a:solidFill>
                  <a:schemeClr val="tx2"/>
                </a:solidFill>
                <a:latin typeface="Arial" panose="020B0604020202020204" pitchFamily="34" charset="0"/>
                <a:cs typeface="Arial" panose="020B0604020202020204" pitchFamily="34" charset="0"/>
              </a:rPr>
              <a:t>Project Abstract</a:t>
            </a:r>
          </a:p>
          <a:p>
            <a:pPr marL="358775" indent="-358775" algn="just">
              <a:spcBef>
                <a:spcPts val="600"/>
              </a:spcBef>
              <a:buNone/>
            </a:pPr>
            <a:r>
              <a:rPr lang="en-US" sz="1400" dirty="0">
                <a:latin typeface="+mn-lt"/>
              </a:rPr>
              <a:t>       This project develops an Intelligent Remote Healthcare and Assisted Living Ecosystem for continuous health, safety, and environmental monitoring. An ESP32 collects data from sensors such as MAX30102, MLX90614, MPU6050, DHT22, MQ-2, and PIR to monitor vital signs, body conditions, movement, and surroundings. The sensor data is displayed on an OLED and transmitted to the </a:t>
            </a:r>
            <a:r>
              <a:rPr lang="en-US" sz="1400" dirty="0" err="1">
                <a:latin typeface="+mn-lt"/>
              </a:rPr>
              <a:t>Blynk</a:t>
            </a:r>
            <a:r>
              <a:rPr lang="en-US" sz="1400" dirty="0">
                <a:latin typeface="+mn-lt"/>
              </a:rPr>
              <a:t> IoT platform for remote monitoring. Abnormal conditions and possible falls trigger buzzer and LED alerts, while an SOS button provides emergency assistance. A Python-based data logging system stores sensor readings in CSV format for future analysis. The system is affordable, reliable, and useful for elderly people, patients, and individuals requiring regular assistance</a:t>
            </a:r>
            <a:r>
              <a:rPr lang="en-US" sz="1400" dirty="0"/>
              <a:t>.</a:t>
            </a:r>
            <a:endParaRPr lang="en-GB" sz="1400" b="1" kern="1200" dirty="0">
              <a:solidFill>
                <a:schemeClr val="tx2"/>
              </a:solidFill>
              <a:latin typeface="Arial" panose="020B0604020202020204" pitchFamily="34" charset="0"/>
              <a:cs typeface="Arial" panose="020B0604020202020204" pitchFamily="34" charset="0"/>
            </a:endParaRPr>
          </a:p>
          <a:p>
            <a:pPr marL="358775" indent="-358775" algn="just">
              <a:spcBef>
                <a:spcPts val="600"/>
              </a:spcBef>
              <a:buNone/>
            </a:pPr>
            <a:r>
              <a:rPr lang="en-GB" sz="3300" b="1" kern="1200" dirty="0">
                <a:solidFill>
                  <a:schemeClr val="tx2"/>
                </a:solidFill>
                <a:latin typeface="Arial" panose="020B0604020202020204" pitchFamily="34" charset="0"/>
                <a:cs typeface="Arial" panose="020B0604020202020204" pitchFamily="34" charset="0"/>
              </a:rPr>
              <a:t>   </a:t>
            </a:r>
            <a:r>
              <a:rPr lang="en-GB" sz="2400" b="1" kern="1200" dirty="0">
                <a:solidFill>
                  <a:schemeClr val="tx2"/>
                </a:solidFill>
                <a:latin typeface="Arial" panose="020B0604020202020204" pitchFamily="34" charset="0"/>
                <a:cs typeface="Arial" panose="020B0604020202020204" pitchFamily="34" charset="0"/>
              </a:rPr>
              <a:t>Problem Statement</a:t>
            </a:r>
          </a:p>
          <a:p>
            <a:pPr marL="358775" indent="-358775" algn="just">
              <a:spcBef>
                <a:spcPts val="600"/>
              </a:spcBef>
              <a:buNone/>
            </a:pPr>
            <a:r>
              <a:rPr lang="en-US" sz="1600" dirty="0">
                <a:latin typeface="+mn-lt"/>
              </a:rPr>
              <a:t>      </a:t>
            </a:r>
            <a:r>
              <a:rPr lang="en-US" sz="1400" dirty="0">
                <a:latin typeface="+mn-lt"/>
              </a:rPr>
              <a:t>Elderly people, patients, and individuals requiring regular assistance may not always have family members or caregivers available for continuous monitoring. Sudden health changes, falls, gas leakage, smoke, or other emergency situations may therefore go unnoticed. There is a need for an integrated and affordable system that can monitor health and environmental conditions, provide emergency alerts, enable remote access, and maintain records of monitored information.</a:t>
            </a:r>
          </a:p>
          <a:p>
            <a:pPr marL="358775" indent="-358775" algn="just">
              <a:spcBef>
                <a:spcPts val="600"/>
              </a:spcBef>
              <a:buNone/>
            </a:pPr>
            <a:r>
              <a:rPr lang="en-GB" sz="3300" b="1" kern="1200" dirty="0">
                <a:solidFill>
                  <a:schemeClr val="tx2"/>
                </a:solidFill>
                <a:latin typeface="Arial" panose="020B0604020202020204" pitchFamily="34" charset="0"/>
                <a:cs typeface="Arial" panose="020B0604020202020204" pitchFamily="34" charset="0"/>
              </a:rPr>
              <a:t>   </a:t>
            </a:r>
            <a:r>
              <a:rPr lang="en-GB" sz="2400" b="1" kern="1200" dirty="0">
                <a:solidFill>
                  <a:schemeClr val="tx2"/>
                </a:solidFill>
                <a:latin typeface="Arial" panose="020B0604020202020204" pitchFamily="34" charset="0"/>
                <a:cs typeface="Arial" panose="020B0604020202020204" pitchFamily="34" charset="0"/>
              </a:rPr>
              <a:t>Need for the Project</a:t>
            </a:r>
          </a:p>
          <a:p>
            <a:pPr marL="358775" indent="-358775" algn="just">
              <a:spcBef>
                <a:spcPts val="600"/>
              </a:spcBef>
              <a:buNone/>
            </a:pPr>
            <a:r>
              <a:rPr lang="en-US" sz="1400" dirty="0">
                <a:latin typeface="+mn-lt"/>
              </a:rPr>
              <a:t>       The project is needed to provide continuous health and safety monitoring, detect possible emergencies, support remote supervision by family members and caregivers, and maintain useful health and environmental records through automatic data logging</a:t>
            </a:r>
            <a:r>
              <a:rPr lang="en-US" sz="1400" dirty="0"/>
              <a:t>.</a:t>
            </a:r>
          </a:p>
          <a:p>
            <a:pPr marL="358775" indent="-358775" algn="just">
              <a:spcBef>
                <a:spcPts val="600"/>
              </a:spcBef>
              <a:buNone/>
            </a:pPr>
            <a:r>
              <a:rPr lang="en-GB" sz="2400" b="1" kern="1200" dirty="0">
                <a:solidFill>
                  <a:schemeClr val="tx2"/>
                </a:solidFill>
                <a:latin typeface="Arial" panose="020B0604020202020204" pitchFamily="34" charset="0"/>
                <a:cs typeface="Arial" panose="020B0604020202020204" pitchFamily="34" charset="0"/>
              </a:rPr>
              <a:t>    Project Objectives</a:t>
            </a:r>
          </a:p>
          <a:p>
            <a:pPr marL="358775" indent="-358775" algn="just">
              <a:spcBef>
                <a:spcPts val="600"/>
              </a:spcBef>
              <a:buNone/>
            </a:pPr>
            <a:endParaRPr lang="en-GB" sz="2400" b="1" kern="1200" dirty="0">
              <a:solidFill>
                <a:schemeClr val="tx2"/>
              </a:solidFill>
              <a:latin typeface="Arial" panose="020B0604020202020204" pitchFamily="34" charset="0"/>
              <a:cs typeface="Arial" panose="020B0604020202020204" pitchFamily="34" charset="0"/>
            </a:endParaRPr>
          </a:p>
          <a:p>
            <a:pPr algn="just"/>
            <a:r>
              <a:rPr lang="en-GB" sz="2400" b="1" kern="1200" dirty="0">
                <a:solidFill>
                  <a:schemeClr val="tx2"/>
                </a:solidFill>
                <a:latin typeface="Arial" panose="020B0604020202020204" pitchFamily="34" charset="0"/>
                <a:cs typeface="Arial" panose="020B0604020202020204" pitchFamily="34" charset="0"/>
              </a:rPr>
              <a:t>   </a:t>
            </a:r>
          </a:p>
          <a:p>
            <a:pPr algn="just"/>
            <a:r>
              <a:rPr lang="en-GB" sz="2400" b="1" dirty="0">
                <a:solidFill>
                  <a:schemeClr val="tx2"/>
                </a:solidFill>
                <a:latin typeface="Arial" panose="020B0604020202020204" pitchFamily="34" charset="0"/>
                <a:cs typeface="Arial" panose="020B0604020202020204" pitchFamily="34" charset="0"/>
              </a:rPr>
              <a:t>   </a:t>
            </a:r>
            <a:r>
              <a:rPr lang="en-GB" sz="2400" b="1" kern="1200" dirty="0">
                <a:solidFill>
                  <a:schemeClr val="tx2"/>
                </a:solidFill>
                <a:latin typeface="Arial" panose="020B0604020202020204" pitchFamily="34" charset="0"/>
                <a:cs typeface="Arial" panose="020B0604020202020204" pitchFamily="34" charset="0"/>
              </a:rPr>
              <a:t> Expected Learning Outcomes</a:t>
            </a:r>
          </a:p>
          <a:p>
            <a:pPr marL="358775" indent="-358775"/>
            <a:r>
              <a:rPr lang="en-US" sz="1400" dirty="0">
                <a:latin typeface="+mn-lt"/>
              </a:rPr>
              <a:t>             </a:t>
            </a:r>
          </a:p>
          <a:p>
            <a:pPr marL="358775" indent="-358775"/>
            <a:endParaRPr lang="en-US" sz="1400" dirty="0">
              <a:latin typeface="+mn-lt"/>
            </a:endParaRPr>
          </a:p>
          <a:p>
            <a:pPr marL="358775" indent="-358775"/>
            <a:endParaRPr lang="en-US" sz="1400" dirty="0">
              <a:latin typeface="+mn-lt"/>
            </a:endParaRPr>
          </a:p>
          <a:p>
            <a:r>
              <a:rPr lang="en-GB" sz="3300" b="1" kern="1200" dirty="0">
                <a:solidFill>
                  <a:schemeClr val="tx2"/>
                </a:solidFill>
                <a:latin typeface="Arial" panose="020B0604020202020204" pitchFamily="34" charset="0"/>
                <a:cs typeface="Arial" panose="020B0604020202020204" pitchFamily="34" charset="0"/>
              </a:rPr>
              <a:t>   </a:t>
            </a:r>
            <a:r>
              <a:rPr lang="en-GB" sz="2400" b="1" kern="1200" dirty="0">
                <a:solidFill>
                  <a:schemeClr val="tx2"/>
                </a:solidFill>
                <a:latin typeface="Arial" panose="020B0604020202020204" pitchFamily="34" charset="0"/>
                <a:cs typeface="Arial" panose="020B0604020202020204" pitchFamily="34" charset="0"/>
              </a:rPr>
              <a:t>System Requirements</a:t>
            </a:r>
          </a:p>
          <a:p>
            <a:pPr marL="358775" indent="-358775">
              <a:spcBef>
                <a:spcPts val="1000"/>
              </a:spcBef>
              <a:buNone/>
            </a:pPr>
            <a:r>
              <a:rPr lang="en-GB" sz="1600" b="1" kern="1200" dirty="0">
                <a:latin typeface="+mn-lt"/>
              </a:rPr>
              <a:t>      </a:t>
            </a:r>
            <a:r>
              <a:rPr lang="en-GB" sz="1400" b="1" kern="1200" dirty="0">
                <a:latin typeface="+mn-lt"/>
              </a:rPr>
              <a:t>Hardware: </a:t>
            </a:r>
            <a:r>
              <a:rPr lang="en-IN" sz="1400" dirty="0">
                <a:latin typeface="+mn-lt"/>
              </a:rPr>
              <a:t>ESP32 microcontroller, MAX30102, MLX90614, MPU6050, DHT22, MQ-2, PIR sensor, OLED display, buzzer, LED indicators, SOS button, power supply, and connecting wires. </a:t>
            </a:r>
          </a:p>
          <a:p>
            <a:pPr marL="358775" indent="-358775">
              <a:spcBef>
                <a:spcPts val="1000"/>
              </a:spcBef>
            </a:pPr>
            <a:r>
              <a:rPr lang="en-IN" sz="1400" b="1" kern="1200" dirty="0">
                <a:latin typeface="+mn-lt"/>
              </a:rPr>
              <a:t>      </a:t>
            </a:r>
            <a:r>
              <a:rPr lang="en-GB" sz="1400" b="1" kern="1200" dirty="0">
                <a:latin typeface="+mn-lt"/>
              </a:rPr>
              <a:t>Software: </a:t>
            </a:r>
            <a:r>
              <a:rPr lang="en-IN" sz="1400" dirty="0">
                <a:latin typeface="+mn-lt"/>
              </a:rPr>
              <a:t>Arduino IDE, Embedded C/C++, </a:t>
            </a:r>
            <a:r>
              <a:rPr lang="en-IN" sz="1400" dirty="0" err="1">
                <a:latin typeface="+mn-lt"/>
              </a:rPr>
              <a:t>Blynk</a:t>
            </a:r>
            <a:r>
              <a:rPr lang="en-IN" sz="1400" dirty="0">
                <a:latin typeface="+mn-lt"/>
              </a:rPr>
              <a:t> IoT Platform, Python, and CSV data storage.</a:t>
            </a:r>
            <a:endParaRPr lang="en-GB" sz="1400" b="1" dirty="0">
              <a:latin typeface="+mn-lt"/>
            </a:endParaRPr>
          </a:p>
          <a:p>
            <a:pPr marL="357000">
              <a:spcBef>
                <a:spcPts val="600"/>
              </a:spcBef>
            </a:pPr>
            <a:r>
              <a:rPr lang="en-GB" sz="2400" b="1" kern="1200" dirty="0">
                <a:solidFill>
                  <a:schemeClr val="tx2"/>
                </a:solidFill>
                <a:latin typeface="Arial" panose="020B0604020202020204" pitchFamily="34" charset="0"/>
                <a:cs typeface="Arial" panose="020B0604020202020204" pitchFamily="34" charset="0"/>
              </a:rPr>
              <a:t>Methodology / Workflow</a:t>
            </a:r>
          </a:p>
          <a:p>
            <a:pPr marL="358775" indent="-358775">
              <a:spcBef>
                <a:spcPts val="600"/>
              </a:spcBef>
              <a:buNone/>
            </a:pPr>
            <a:r>
              <a:rPr lang="en-US" sz="1400" dirty="0">
                <a:latin typeface="+mn-lt"/>
              </a:rPr>
              <a:t>       </a:t>
            </a:r>
            <a:r>
              <a:rPr lang="en-IN" sz="1400" dirty="0">
                <a:latin typeface="+mn-lt"/>
              </a:rPr>
              <a:t>Sensors → ESP32 → Data Processing → OLED + </a:t>
            </a:r>
            <a:r>
              <a:rPr lang="en-IN" sz="1400" dirty="0" err="1">
                <a:latin typeface="+mn-lt"/>
              </a:rPr>
              <a:t>Blynk</a:t>
            </a:r>
            <a:r>
              <a:rPr lang="en-IN" sz="1400" dirty="0">
                <a:latin typeface="+mn-lt"/>
              </a:rPr>
              <a:t> IoT → Emergency Detection → Alerts → Python Data Logging → CSV Storage</a:t>
            </a:r>
            <a:r>
              <a:rPr lang="en-GB" sz="1400" b="1" kern="1200" dirty="0">
                <a:solidFill>
                  <a:schemeClr val="tx2"/>
                </a:solidFill>
                <a:latin typeface="+mn-lt"/>
                <a:cs typeface="Arial" panose="020B0604020202020204" pitchFamily="34" charset="0"/>
              </a:rPr>
              <a:t>   </a:t>
            </a:r>
          </a:p>
          <a:p>
            <a:pPr marL="358775" indent="-358775">
              <a:spcBef>
                <a:spcPts val="600"/>
              </a:spcBef>
              <a:buNone/>
            </a:pPr>
            <a:r>
              <a:rPr lang="en-GB" sz="3300" b="1" dirty="0">
                <a:solidFill>
                  <a:schemeClr val="tx2"/>
                </a:solidFill>
                <a:latin typeface="Arial" panose="020B0604020202020204" pitchFamily="34" charset="0"/>
                <a:cs typeface="Arial" panose="020B0604020202020204" pitchFamily="34" charset="0"/>
              </a:rPr>
              <a:t>   </a:t>
            </a:r>
            <a:r>
              <a:rPr lang="en-GB" sz="2400" b="1" kern="1200" dirty="0">
                <a:solidFill>
                  <a:schemeClr val="tx2"/>
                </a:solidFill>
                <a:latin typeface="Arial" panose="020B0604020202020204" pitchFamily="34" charset="0"/>
                <a:cs typeface="Arial" panose="020B0604020202020204" pitchFamily="34" charset="0"/>
              </a:rPr>
              <a:t>System Architecture</a:t>
            </a:r>
          </a:p>
          <a:p>
            <a:pPr marL="358775" indent="-358775">
              <a:spcBef>
                <a:spcPts val="600"/>
              </a:spcBef>
              <a:buNone/>
            </a:pPr>
            <a:endParaRPr lang="en-GB" sz="1900" kern="1200" dirty="0"/>
          </a:p>
          <a:p>
            <a:pPr>
              <a:spcBef>
                <a:spcPts val="900"/>
              </a:spcBef>
            </a:pPr>
            <a:endParaRPr lang="en-GB" sz="1000" dirty="0"/>
          </a:p>
          <a:p>
            <a:pPr>
              <a:spcBef>
                <a:spcPts val="900"/>
              </a:spcBef>
            </a:pPr>
            <a:endParaRPr lang="en-GB" sz="1000" dirty="0"/>
          </a:p>
          <a:p>
            <a:pPr>
              <a:spcBef>
                <a:spcPts val="900"/>
              </a:spcBef>
            </a:pPr>
            <a:endParaRPr lang="en-GB" sz="1000" dirty="0"/>
          </a:p>
          <a:p>
            <a:pPr>
              <a:spcBef>
                <a:spcPts val="900"/>
              </a:spcBef>
            </a:pPr>
            <a:endParaRPr lang="en-GB" sz="1000" dirty="0"/>
          </a:p>
          <a:p>
            <a:pPr marL="446088" indent="-446088">
              <a:spcBef>
                <a:spcPts val="2600"/>
              </a:spcBef>
              <a:buNone/>
            </a:pPr>
            <a:r>
              <a:rPr lang="en-GB" sz="3300" b="1" kern="1200" dirty="0">
                <a:solidFill>
                  <a:schemeClr val="tx2"/>
                </a:solidFill>
                <a:latin typeface="Arial" panose="020B0604020202020204" pitchFamily="34" charset="0"/>
                <a:cs typeface="Arial" panose="020B0604020202020204" pitchFamily="34" charset="0"/>
              </a:rPr>
              <a:t>    </a:t>
            </a:r>
          </a:p>
          <a:p>
            <a:pPr marL="446088" indent="-446088">
              <a:spcBef>
                <a:spcPts val="2600"/>
              </a:spcBef>
              <a:buNone/>
            </a:pPr>
            <a:endParaRPr lang="en-GB" sz="2400" b="1" kern="1200" dirty="0">
              <a:solidFill>
                <a:schemeClr val="tx2"/>
              </a:solidFill>
              <a:latin typeface="Arial" panose="020B0604020202020204" pitchFamily="34" charset="0"/>
              <a:cs typeface="Arial" panose="020B0604020202020204" pitchFamily="34" charset="0"/>
            </a:endParaRPr>
          </a:p>
          <a:p>
            <a:pPr marL="446088" indent="-446088">
              <a:spcBef>
                <a:spcPts val="2600"/>
              </a:spcBef>
              <a:buNone/>
            </a:pPr>
            <a:r>
              <a:rPr lang="en-GB" sz="2400" b="1" kern="1200" dirty="0">
                <a:solidFill>
                  <a:schemeClr val="tx2"/>
                </a:solidFill>
                <a:latin typeface="Arial" panose="020B0604020202020204" pitchFamily="34" charset="0"/>
                <a:cs typeface="Arial" panose="020B0604020202020204" pitchFamily="34" charset="0"/>
              </a:rPr>
              <a:t>     Block Diagram</a:t>
            </a:r>
          </a:p>
          <a:p>
            <a:pPr marL="446088" indent="-446088">
              <a:spcBef>
                <a:spcPts val="2600"/>
              </a:spcBef>
              <a:buNone/>
            </a:pPr>
            <a:endParaRPr lang="en-GB" sz="3300" b="1" kern="1200" dirty="0">
              <a:solidFill>
                <a:schemeClr val="tx2"/>
              </a:solidFill>
              <a:latin typeface="Arial" panose="020B0604020202020204" pitchFamily="34" charset="0"/>
              <a:cs typeface="Arial" panose="020B0604020202020204" pitchFamily="34" charset="0"/>
            </a:endParaRPr>
          </a:p>
          <a:p>
            <a:pPr>
              <a:spcBef>
                <a:spcPts val="900"/>
              </a:spcBef>
            </a:pPr>
            <a:endParaRPr lang="en-GB" sz="1000" dirty="0"/>
          </a:p>
          <a:p>
            <a:pPr>
              <a:spcBef>
                <a:spcPts val="900"/>
              </a:spcBef>
            </a:pPr>
            <a:endParaRPr lang="en-GB" sz="1000" dirty="0"/>
          </a:p>
          <a:p>
            <a:pPr marL="446088" indent="-446088">
              <a:spcBef>
                <a:spcPts val="2600"/>
              </a:spcBef>
              <a:buNone/>
            </a:pPr>
            <a:r>
              <a:rPr lang="en-GB" sz="3300" b="1" kern="1200" dirty="0">
                <a:solidFill>
                  <a:schemeClr val="tx2"/>
                </a:solidFill>
                <a:latin typeface="Arial" panose="020B0604020202020204" pitchFamily="34" charset="0"/>
                <a:cs typeface="Arial" panose="020B0604020202020204" pitchFamily="34" charset="0"/>
              </a:rPr>
              <a:t>	</a:t>
            </a:r>
          </a:p>
          <a:p>
            <a:pPr marL="446088" indent="-446088">
              <a:spcBef>
                <a:spcPts val="2600"/>
              </a:spcBef>
              <a:buNone/>
            </a:pPr>
            <a:endParaRPr lang="en-GB" sz="3300" b="1" kern="1200" dirty="0">
              <a:solidFill>
                <a:schemeClr val="tx2"/>
              </a:solidFill>
              <a:latin typeface="Arial" panose="020B0604020202020204" pitchFamily="34" charset="0"/>
              <a:cs typeface="Arial" panose="020B0604020202020204" pitchFamily="34" charset="0"/>
            </a:endParaRPr>
          </a:p>
          <a:p>
            <a:pPr marL="446088" indent="-446088">
              <a:spcBef>
                <a:spcPts val="2600"/>
              </a:spcBef>
              <a:buNone/>
            </a:pPr>
            <a:r>
              <a:rPr lang="en-GB" sz="3300" b="1" kern="1200" dirty="0">
                <a:solidFill>
                  <a:schemeClr val="tx2"/>
                </a:solidFill>
                <a:latin typeface="Arial" panose="020B0604020202020204" pitchFamily="34" charset="0"/>
                <a:cs typeface="Arial" panose="020B0604020202020204" pitchFamily="34" charset="0"/>
              </a:rPr>
              <a:t>   </a:t>
            </a:r>
            <a:r>
              <a:rPr lang="en-GB" sz="2400" b="1" kern="1200" dirty="0">
                <a:solidFill>
                  <a:schemeClr val="tx2"/>
                </a:solidFill>
                <a:latin typeface="Arial" panose="020B0604020202020204" pitchFamily="34" charset="0"/>
                <a:cs typeface="Arial" panose="020B0604020202020204" pitchFamily="34" charset="0"/>
              </a:rPr>
              <a:t>Project Development Process</a:t>
            </a:r>
          </a:p>
          <a:p>
            <a:pPr marL="358775" indent="-358775" algn="just">
              <a:spcBef>
                <a:spcPts val="600"/>
              </a:spcBef>
              <a:buNone/>
            </a:pPr>
            <a:r>
              <a:rPr lang="en-IN" sz="1400" dirty="0">
                <a:latin typeface="+mn-lt"/>
              </a:rPr>
              <a:t>       Problem Identification → Literature Survey → System Design → Sensor Integration → ESP32 Programming → </a:t>
            </a:r>
            <a:r>
              <a:rPr lang="en-IN" sz="1400" dirty="0" err="1">
                <a:latin typeface="+mn-lt"/>
              </a:rPr>
              <a:t>Blynk</a:t>
            </a:r>
            <a:r>
              <a:rPr lang="en-IN" sz="1400" dirty="0">
                <a:latin typeface="+mn-lt"/>
              </a:rPr>
              <a:t> IoT Integration → Emergency Alerts → Data Logging → Testing → Result Analysis → Conclusion</a:t>
            </a:r>
          </a:p>
          <a:p>
            <a:pPr marL="358775" indent="-358775" algn="just">
              <a:spcBef>
                <a:spcPts val="600"/>
              </a:spcBef>
              <a:buNone/>
            </a:pPr>
            <a:r>
              <a:rPr lang="en-GB" sz="2400" b="1" kern="1200" dirty="0">
                <a:solidFill>
                  <a:schemeClr val="tx2"/>
                </a:solidFill>
                <a:latin typeface="Arial" panose="020B0604020202020204" pitchFamily="34" charset="0"/>
                <a:cs typeface="Arial" panose="020B0604020202020204" pitchFamily="34" charset="0"/>
              </a:rPr>
              <a:t>    Implementation</a:t>
            </a:r>
          </a:p>
          <a:p>
            <a:pPr marL="358775" indent="-358775" algn="just">
              <a:spcBef>
                <a:spcPts val="600"/>
              </a:spcBef>
              <a:buNone/>
            </a:pPr>
            <a:endParaRPr lang="en-GB" sz="2400" b="1" kern="1200" dirty="0">
              <a:solidFill>
                <a:schemeClr val="tx2"/>
              </a:solidFill>
              <a:latin typeface="Arial" panose="020B0604020202020204" pitchFamily="34" charset="0"/>
              <a:cs typeface="Arial" panose="020B0604020202020204" pitchFamily="34" charset="0"/>
            </a:endParaRPr>
          </a:p>
          <a:p>
            <a:pPr marL="358775" indent="-358775" algn="just">
              <a:spcBef>
                <a:spcPts val="600"/>
              </a:spcBef>
              <a:buNone/>
            </a:pPr>
            <a:r>
              <a:rPr lang="en-GB" sz="2400" b="1" kern="1200" dirty="0">
                <a:solidFill>
                  <a:schemeClr val="tx2"/>
                </a:solidFill>
                <a:latin typeface="Arial" panose="020B0604020202020204" pitchFamily="34" charset="0"/>
                <a:cs typeface="Arial" panose="020B0604020202020204" pitchFamily="34" charset="0"/>
              </a:rPr>
              <a:t>  </a:t>
            </a:r>
          </a:p>
          <a:p>
            <a:pPr marL="358775" indent="-358775" algn="just">
              <a:spcBef>
                <a:spcPts val="600"/>
              </a:spcBef>
              <a:buNone/>
            </a:pPr>
            <a:r>
              <a:rPr lang="en-GB" sz="2400" b="1" kern="1200" dirty="0">
                <a:solidFill>
                  <a:schemeClr val="tx2"/>
                </a:solidFill>
                <a:latin typeface="Arial" panose="020B0604020202020204" pitchFamily="34" charset="0"/>
                <a:cs typeface="Arial" panose="020B0604020202020204" pitchFamily="34" charset="0"/>
              </a:rPr>
              <a:t>     Algorithms / Models Used</a:t>
            </a:r>
          </a:p>
          <a:p>
            <a:pPr marL="714375" indent="-357375">
              <a:spcBef>
                <a:spcPts val="600"/>
              </a:spcBef>
              <a:buFont typeface="Arial" pitchFamily="34" charset="0"/>
              <a:buChar char="•"/>
            </a:pPr>
            <a:r>
              <a:rPr lang="en-IN" sz="1400" b="1" dirty="0">
                <a:latin typeface="+mn-lt"/>
              </a:rPr>
              <a:t>Algorithm / model 1: </a:t>
            </a:r>
            <a:r>
              <a:rPr lang="en-US" sz="1400" dirty="0">
                <a:latin typeface="+mn-lt"/>
              </a:rPr>
              <a:t>Multi-Sensor Health and Environmental Monitoring</a:t>
            </a:r>
            <a:endParaRPr lang="en-GB" sz="1400" kern="1200" dirty="0">
              <a:latin typeface="+mn-lt"/>
            </a:endParaRPr>
          </a:p>
          <a:p>
            <a:pPr marL="714375" indent="-357375">
              <a:spcBef>
                <a:spcPts val="600"/>
              </a:spcBef>
              <a:buFont typeface="Arial" pitchFamily="34" charset="0"/>
              <a:buChar char="•"/>
            </a:pPr>
            <a:r>
              <a:rPr lang="en-US" sz="1400" b="1" dirty="0">
                <a:latin typeface="+mn-lt"/>
              </a:rPr>
              <a:t>Algorithm / model 2: </a:t>
            </a:r>
            <a:r>
              <a:rPr lang="en-US" sz="1400" dirty="0">
                <a:latin typeface="+mn-lt"/>
              </a:rPr>
              <a:t>Abnormal Condition and Fall Detection </a:t>
            </a:r>
          </a:p>
        </p:txBody>
      </p:sp>
      <p:sp>
        <p:nvSpPr>
          <p:cNvPr id="2054" name="Rectangle 2"/>
          <p:cNvSpPr>
            <a:spLocks noGrp="1" noChangeArrowheads="1"/>
          </p:cNvSpPr>
          <p:nvPr>
            <p:ph type="title"/>
          </p:nvPr>
        </p:nvSpPr>
        <p:spPr>
          <a:xfrm>
            <a:off x="829098" y="760484"/>
            <a:ext cx="19370152" cy="3960291"/>
          </a:xfrm>
        </p:spPr>
        <p:txBody>
          <a:bodyPr/>
          <a:lstStyle/>
          <a:p>
            <a:r>
              <a:rPr lang="en-US" sz="6600" dirty="0"/>
              <a:t>INTELLIGENT REMOTE HEALTHCARE AND ASSISTED LIVING ECOSYSTEM</a:t>
            </a:r>
            <a:br>
              <a:rPr lang="en-GB" dirty="0"/>
            </a:br>
            <a:endParaRPr lang="en-GB" dirty="0"/>
          </a:p>
        </p:txBody>
      </p:sp>
      <p:sp>
        <p:nvSpPr>
          <p:cNvPr id="2051" name="Text Box 7"/>
          <p:cNvSpPr txBox="1">
            <a:spLocks noChangeArrowheads="1"/>
          </p:cNvSpPr>
          <p:nvPr/>
        </p:nvSpPr>
        <p:spPr bwMode="auto">
          <a:xfrm>
            <a:off x="11379706" y="25292945"/>
            <a:ext cx="9253537" cy="3240699"/>
          </a:xfrm>
          <a:prstGeom prst="rect">
            <a:avLst/>
          </a:prstGeom>
          <a:solidFill>
            <a:schemeClr val="accent1">
              <a:lumMod val="20000"/>
              <a:lumOff val="80000"/>
            </a:schemeClr>
          </a:solidFill>
          <a:ln w="9525">
            <a:solidFill>
              <a:schemeClr val="tx2"/>
            </a:solidFill>
            <a:miter lim="800000"/>
            <a:headEnd/>
            <a:tailEnd/>
          </a:ln>
        </p:spPr>
        <p:txBody>
          <a:bodyPr lIns="287990" tIns="179993" rIns="0" bIns="179993">
            <a:spAutoFit/>
          </a:bodyPr>
          <a:lstStyle/>
          <a:p>
            <a:pPr marL="266700" indent="-266700" defTabSz="912813" eaLnBrk="0" hangingPunct="0">
              <a:spcBef>
                <a:spcPts val="1600"/>
              </a:spcBef>
            </a:pPr>
            <a:r>
              <a:rPr lang="en-GB" sz="2000" b="1" dirty="0">
                <a:solidFill>
                  <a:schemeClr val="tx2"/>
                </a:solidFill>
                <a:latin typeface="Arial" panose="020B0604020202020204" pitchFamily="34" charset="0"/>
                <a:cs typeface="Arial" panose="020B0604020202020204" pitchFamily="34" charset="0"/>
              </a:rPr>
              <a:t>References</a:t>
            </a:r>
          </a:p>
          <a:p>
            <a:pPr marL="266700" indent="-266700" defTabSz="912813" eaLnBrk="0" hangingPunct="0">
              <a:lnSpc>
                <a:spcPct val="125000"/>
              </a:lnSpc>
              <a:spcBef>
                <a:spcPct val="30000"/>
              </a:spcBef>
              <a:buClr>
                <a:schemeClr val="tx2"/>
              </a:buClr>
              <a:buFontTx/>
              <a:buAutoNum type="arabicPeriod"/>
            </a:pPr>
            <a:r>
              <a:rPr lang="en-US" sz="1600" dirty="0"/>
              <a:t>“Health Monitoring System Design of IoT-based Multi-Physiological Parameters with STM32,” </a:t>
            </a:r>
            <a:r>
              <a:rPr lang="en-US" sz="1600" i="1" dirty="0"/>
              <a:t>IEEE Conference Publication</a:t>
            </a:r>
            <a:r>
              <a:rPr lang="en-US" sz="1600" dirty="0"/>
              <a:t>, 2024..</a:t>
            </a:r>
          </a:p>
          <a:p>
            <a:pPr marL="266700" indent="-266700" defTabSz="912813" eaLnBrk="0" hangingPunct="0">
              <a:lnSpc>
                <a:spcPct val="125000"/>
              </a:lnSpc>
              <a:spcBef>
                <a:spcPct val="30000"/>
              </a:spcBef>
              <a:buClr>
                <a:schemeClr val="tx2"/>
              </a:buClr>
              <a:buFontTx/>
              <a:buAutoNum type="arabicPeriod"/>
            </a:pPr>
            <a:r>
              <a:rPr lang="en-US" sz="1600" dirty="0"/>
              <a:t>“A Smartphone-Enabled Fall Detection Framework for Elderly People in Connected Home Healthcare,” </a:t>
            </a:r>
            <a:r>
              <a:rPr lang="en-US" sz="1600" i="1" dirty="0"/>
              <a:t>IEEE Network</a:t>
            </a:r>
            <a:r>
              <a:rPr lang="en-US" sz="1600" dirty="0"/>
              <a:t>, 2019, pp. 58–63.</a:t>
            </a:r>
          </a:p>
          <a:p>
            <a:pPr defTabSz="912813" eaLnBrk="0" hangingPunct="0">
              <a:lnSpc>
                <a:spcPct val="125000"/>
              </a:lnSpc>
              <a:spcBef>
                <a:spcPct val="30000"/>
              </a:spcBef>
              <a:buClr>
                <a:schemeClr val="tx2"/>
              </a:buClr>
            </a:pPr>
            <a:r>
              <a:rPr lang="en-GB" sz="2000" b="1" dirty="0">
                <a:solidFill>
                  <a:schemeClr val="tx2"/>
                </a:solidFill>
                <a:latin typeface="Arial" panose="020B0604020202020204" pitchFamily="34" charset="0"/>
                <a:cs typeface="Arial" panose="020B0604020202020204" pitchFamily="34" charset="0"/>
              </a:rPr>
              <a:t> Acknowledgements</a:t>
            </a:r>
          </a:p>
          <a:p>
            <a:pPr marL="266700" indent="-266700" defTabSz="912813" eaLnBrk="0" hangingPunct="0">
              <a:lnSpc>
                <a:spcPct val="125000"/>
              </a:lnSpc>
              <a:spcBef>
                <a:spcPts val="500"/>
              </a:spcBef>
              <a:buClr>
                <a:schemeClr val="tx2"/>
              </a:buClr>
              <a:buFontTx/>
              <a:buChar char="•"/>
            </a:pPr>
            <a:r>
              <a:rPr lang="en-US" sz="1600" dirty="0">
                <a:latin typeface="+mn-lt"/>
              </a:rPr>
              <a:t>Department of Mechanical Engineering, Knowledge Institute of Technology, Salem.</a:t>
            </a:r>
          </a:p>
          <a:p>
            <a:pPr marL="266700" indent="-266700" defTabSz="912813" eaLnBrk="0" hangingPunct="0">
              <a:lnSpc>
                <a:spcPct val="125000"/>
              </a:lnSpc>
              <a:spcBef>
                <a:spcPts val="500"/>
              </a:spcBef>
              <a:buClr>
                <a:schemeClr val="tx2"/>
              </a:buClr>
              <a:buFontTx/>
              <a:buChar char="•"/>
            </a:pPr>
            <a:r>
              <a:rPr lang="en-US" sz="1600" dirty="0">
                <a:latin typeface="+mn-lt"/>
              </a:rPr>
              <a:t>Project Guide and Team Members for their valuable guidance and support</a:t>
            </a:r>
            <a:endParaRPr lang="en-GB" sz="1600" dirty="0">
              <a:latin typeface="+mn-lt"/>
              <a:cs typeface="Arial" panose="020B0604020202020204" pitchFamily="34" charset="0"/>
            </a:endParaRPr>
          </a:p>
        </p:txBody>
      </p:sp>
      <p:sp>
        <p:nvSpPr>
          <p:cNvPr id="2052" name="Text Box 8"/>
          <p:cNvSpPr txBox="1">
            <a:spLocks noChangeArrowheads="1"/>
          </p:cNvSpPr>
          <p:nvPr/>
        </p:nvSpPr>
        <p:spPr bwMode="auto">
          <a:xfrm>
            <a:off x="11379706" y="28677491"/>
            <a:ext cx="9253537" cy="1369418"/>
          </a:xfrm>
          <a:prstGeom prst="rect">
            <a:avLst/>
          </a:prstGeom>
          <a:solidFill>
            <a:schemeClr val="accent1">
              <a:lumMod val="20000"/>
              <a:lumOff val="80000"/>
            </a:schemeClr>
          </a:solidFill>
          <a:ln w="9525">
            <a:solidFill>
              <a:schemeClr val="tx2"/>
            </a:solidFill>
            <a:miter lim="800000"/>
            <a:headEnd/>
            <a:tailEnd/>
          </a:ln>
        </p:spPr>
        <p:txBody>
          <a:bodyPr lIns="287990" tIns="179993" rIns="0" bIns="179993" anchor="b">
            <a:spAutoFit/>
          </a:bodyPr>
          <a:lstStyle/>
          <a:p>
            <a:pPr marL="266700" indent="-266700" defTabSz="912813" eaLnBrk="0" hangingPunct="0">
              <a:spcBef>
                <a:spcPts val="1600"/>
              </a:spcBef>
            </a:pPr>
            <a:r>
              <a:rPr lang="en-GB" sz="1900" b="1" dirty="0">
                <a:solidFill>
                  <a:schemeClr val="tx2"/>
                </a:solidFill>
                <a:latin typeface="Arial" panose="020B0604020202020204" pitchFamily="34" charset="0"/>
                <a:cs typeface="Arial" panose="020B0604020202020204" pitchFamily="34" charset="0"/>
              </a:rPr>
              <a:t>Contact information</a:t>
            </a:r>
          </a:p>
          <a:p>
            <a:pPr marL="266700" indent="-266700" defTabSz="912813" eaLnBrk="0" hangingPunct="0">
              <a:lnSpc>
                <a:spcPct val="125000"/>
              </a:lnSpc>
              <a:spcBef>
                <a:spcPts val="500"/>
              </a:spcBef>
              <a:buClr>
                <a:schemeClr val="tx2"/>
              </a:buClr>
              <a:buFontTx/>
              <a:buChar char="•"/>
            </a:pPr>
            <a:r>
              <a:rPr lang="en-US" sz="1600" dirty="0">
                <a:latin typeface="+mn-lt"/>
              </a:rPr>
              <a:t>Department of Mechanical Engineering, Knowledge Institute of Technology, Salem</a:t>
            </a:r>
          </a:p>
          <a:p>
            <a:pPr marL="266700" indent="-266700" defTabSz="912813" eaLnBrk="0" hangingPunct="0">
              <a:lnSpc>
                <a:spcPct val="125000"/>
              </a:lnSpc>
              <a:spcBef>
                <a:spcPts val="500"/>
              </a:spcBef>
              <a:buClr>
                <a:schemeClr val="tx2"/>
              </a:buClr>
              <a:buFontTx/>
              <a:buChar char="•"/>
            </a:pPr>
            <a:r>
              <a:rPr lang="en-GB" sz="1600" dirty="0">
                <a:latin typeface="Arial" panose="020B0604020202020204" pitchFamily="34" charset="0"/>
                <a:cs typeface="Arial" panose="020B0604020202020204" pitchFamily="34" charset="0"/>
              </a:rPr>
              <a:t>Email: 2k23me100@kiot.ac.in | www.kiot.ac.in</a:t>
            </a:r>
            <a:endParaRPr lang="en-GB" sz="2000" b="1" dirty="0">
              <a:solidFill>
                <a:schemeClr val="tx2"/>
              </a:solidFill>
              <a:latin typeface="Arial" panose="020B0604020202020204" pitchFamily="34" charset="0"/>
              <a:cs typeface="Arial" panose="020B0604020202020204" pitchFamily="34" charset="0"/>
            </a:endParaRPr>
          </a:p>
        </p:txBody>
      </p:sp>
      <p:sp>
        <p:nvSpPr>
          <p:cNvPr id="2056" name="Rectangle 19"/>
          <p:cNvSpPr>
            <a:spLocks noChangeArrowheads="1"/>
          </p:cNvSpPr>
          <p:nvPr/>
        </p:nvSpPr>
        <p:spPr bwMode="auto">
          <a:xfrm>
            <a:off x="541066" y="27309339"/>
            <a:ext cx="3439346" cy="2446338"/>
          </a:xfrm>
          <a:prstGeom prst="rect">
            <a:avLst/>
          </a:prstGeom>
          <a:noFill/>
          <a:ln w="19050" cap="rnd">
            <a:solidFill>
              <a:schemeClr val="tx2"/>
            </a:solidFill>
            <a:prstDash val="sysDot"/>
            <a:miter lim="800000"/>
            <a:headEnd/>
            <a:tailEnd/>
          </a:ln>
        </p:spPr>
        <p:txBody>
          <a:bodyPr wrap="square" anchor="ctr"/>
          <a:lstStyle/>
          <a:p>
            <a:pPr algn="ctr"/>
            <a:r>
              <a:rPr lang="en-US" sz="1800" dirty="0">
                <a:solidFill>
                  <a:schemeClr val="tx2"/>
                </a:solidFill>
                <a:latin typeface="Arial" charset="0"/>
              </a:rPr>
              <a:t>[QR Code]</a:t>
            </a:r>
          </a:p>
        </p:txBody>
      </p:sp>
      <p:sp>
        <p:nvSpPr>
          <p:cNvPr id="2057" name="Text Box 20"/>
          <p:cNvSpPr txBox="1">
            <a:spLocks noChangeArrowheads="1"/>
          </p:cNvSpPr>
          <p:nvPr/>
        </p:nvSpPr>
        <p:spPr bwMode="auto">
          <a:xfrm>
            <a:off x="6589738" y="27420913"/>
            <a:ext cx="3238500" cy="1508099"/>
          </a:xfrm>
          <a:prstGeom prst="rect">
            <a:avLst/>
          </a:prstGeom>
          <a:noFill/>
          <a:ln w="9525">
            <a:noFill/>
            <a:miter lim="800000"/>
            <a:headEnd/>
            <a:tailEnd/>
          </a:ln>
        </p:spPr>
        <p:txBody>
          <a:bodyPr lIns="91436" tIns="45717" rIns="91436" bIns="45717">
            <a:spAutoFit/>
          </a:bodyPr>
          <a:lstStyle/>
          <a:p>
            <a:r>
              <a:rPr lang="en-GB" sz="2000" b="1" dirty="0">
                <a:solidFill>
                  <a:schemeClr val="tx2"/>
                </a:solidFill>
                <a:latin typeface="Arial" panose="020B0604020202020204" pitchFamily="34" charset="0"/>
                <a:cs typeface="Arial" panose="020B0604020202020204" pitchFamily="34" charset="0"/>
              </a:rPr>
              <a:t>QR Code — Project Report (PDF) | Source Code Repository | Demonstration Video</a:t>
            </a:r>
            <a:endParaRPr lang="en-US" sz="1800" dirty="0">
              <a:latin typeface="Arial" panose="020B0604020202020204" pitchFamily="34" charset="0"/>
              <a:cs typeface="Arial" panose="020B0604020202020204" pitchFamily="34" charset="0"/>
            </a:endParaRPr>
          </a:p>
        </p:txBody>
      </p:sp>
      <p:sp>
        <p:nvSpPr>
          <p:cNvPr id="14" name="Content Placeholder 1">
            <a:extLst>
              <a:ext uri="{FF2B5EF4-FFF2-40B4-BE49-F238E27FC236}">
                <a16:creationId xmlns:a16="http://schemas.microsoft.com/office/drawing/2014/main" id="{53AB2554-C850-4719-A3D9-8A7C5FE0E37B}"/>
              </a:ext>
            </a:extLst>
          </p:cNvPr>
          <p:cNvSpPr txBox="1">
            <a:spLocks/>
          </p:cNvSpPr>
          <p:nvPr/>
        </p:nvSpPr>
        <p:spPr bwMode="auto">
          <a:xfrm>
            <a:off x="10845800" y="5635625"/>
            <a:ext cx="10021888" cy="1951347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60000" indent="-360000" algn="l" defTabSz="2952750" rtl="0" eaLnBrk="1" fontAlgn="base" hangingPunct="1">
              <a:lnSpc>
                <a:spcPct val="125000"/>
              </a:lnSpc>
              <a:spcBef>
                <a:spcPts val="1400"/>
              </a:spcBef>
              <a:spcAft>
                <a:spcPct val="0"/>
              </a:spcAft>
              <a:buClr>
                <a:schemeClr val="tx2"/>
              </a:buClr>
              <a:buChar char="•"/>
              <a:defRPr sz="1900">
                <a:solidFill>
                  <a:schemeClr val="tx1"/>
                </a:solidFill>
                <a:latin typeface="Arial" panose="020B0604020202020204" pitchFamily="34" charset="0"/>
                <a:ea typeface="+mn-ea"/>
                <a:cs typeface="Arial" panose="020B0604020202020204" pitchFamily="34" charset="0"/>
              </a:defRPr>
            </a:lvl1pPr>
            <a:lvl2pPr marL="720000" indent="-360000" algn="l" defTabSz="2952750" rtl="0" eaLnBrk="1" fontAlgn="base" hangingPunct="1">
              <a:lnSpc>
                <a:spcPct val="125000"/>
              </a:lnSpc>
              <a:spcBef>
                <a:spcPts val="1000"/>
              </a:spcBef>
              <a:spcAft>
                <a:spcPct val="0"/>
              </a:spcAft>
              <a:buClr>
                <a:schemeClr val="tx2"/>
              </a:buClr>
              <a:buFont typeface="Arial" pitchFamily="34" charset="0"/>
              <a:buChar char="•"/>
              <a:defRPr sz="1900">
                <a:solidFill>
                  <a:schemeClr val="tx1"/>
                </a:solidFill>
                <a:latin typeface="Arial" panose="020B0604020202020204" pitchFamily="34" charset="0"/>
                <a:cs typeface="Arial" panose="020B0604020202020204" pitchFamily="34" charset="0"/>
              </a:defRPr>
            </a:lvl2pPr>
            <a:lvl3pPr marL="1080000" indent="-360000" algn="l" defTabSz="2952750" rtl="0" eaLnBrk="1" fontAlgn="base" hangingPunct="1">
              <a:lnSpc>
                <a:spcPct val="125000"/>
              </a:lnSpc>
              <a:spcBef>
                <a:spcPts val="600"/>
              </a:spcBef>
              <a:spcAft>
                <a:spcPct val="0"/>
              </a:spcAft>
              <a:buClr>
                <a:schemeClr val="tx2"/>
              </a:buClr>
              <a:buFont typeface="Rdg Vesta" pitchFamily="2" charset="0"/>
              <a:buChar char="−"/>
              <a:defRPr sz="1600">
                <a:solidFill>
                  <a:schemeClr val="tx1"/>
                </a:solidFill>
                <a:latin typeface="Arial" panose="020B0604020202020204" pitchFamily="34" charset="0"/>
                <a:cs typeface="Arial" panose="020B0604020202020204" pitchFamily="34" charset="0"/>
              </a:defRPr>
            </a:lvl3pPr>
            <a:lvl4pPr marL="1350000" indent="-270000" algn="l" defTabSz="2952750" rtl="0" eaLnBrk="1" fontAlgn="base" hangingPunct="1">
              <a:lnSpc>
                <a:spcPct val="125000"/>
              </a:lnSpc>
              <a:spcBef>
                <a:spcPts val="500"/>
              </a:spcBef>
              <a:spcAft>
                <a:spcPct val="0"/>
              </a:spcAft>
              <a:buClr>
                <a:schemeClr val="tx2"/>
              </a:buClr>
              <a:buFont typeface="Arial" pitchFamily="34" charset="0"/>
              <a:buChar char="•"/>
              <a:defRPr sz="1600">
                <a:solidFill>
                  <a:schemeClr val="tx1"/>
                </a:solidFill>
                <a:latin typeface="Arial" panose="020B0604020202020204" pitchFamily="34" charset="0"/>
                <a:cs typeface="Arial" panose="020B0604020202020204" pitchFamily="34" charset="0"/>
              </a:defRPr>
            </a:lvl4pPr>
            <a:lvl5pPr marL="1530000" indent="-180000" algn="l" defTabSz="2952750" rtl="0" eaLnBrk="1" fontAlgn="base" hangingPunct="1">
              <a:lnSpc>
                <a:spcPct val="125000"/>
              </a:lnSpc>
              <a:spcBef>
                <a:spcPts val="500"/>
              </a:spcBef>
              <a:spcAft>
                <a:spcPct val="0"/>
              </a:spcAft>
              <a:buClr>
                <a:schemeClr val="tx2"/>
              </a:buClr>
              <a:buFont typeface="Rdg Vesta" pitchFamily="2" charset="0"/>
              <a:buChar char="−"/>
              <a:defRPr sz="1200">
                <a:solidFill>
                  <a:schemeClr val="tx1"/>
                </a:solidFill>
                <a:latin typeface="Arial" panose="020B0604020202020204" pitchFamily="34" charset="0"/>
                <a:cs typeface="Arial" panose="020B0604020202020204" pitchFamily="34" charset="0"/>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a:lstStyle>
          <a:p>
            <a:pPr marL="446088" indent="-446088">
              <a:spcBef>
                <a:spcPts val="0"/>
              </a:spcBef>
              <a:buNone/>
            </a:pPr>
            <a:r>
              <a:rPr lang="en-GB" sz="3000" b="1" kern="1200" dirty="0">
                <a:solidFill>
                  <a:schemeClr val="tx2"/>
                </a:solidFill>
                <a:latin typeface="Arial" panose="020B0604020202020204" pitchFamily="34" charset="0"/>
                <a:cs typeface="Arial" panose="020B0604020202020204" pitchFamily="34" charset="0"/>
              </a:rPr>
              <a:t>   </a:t>
            </a:r>
            <a:r>
              <a:rPr lang="en-GB" sz="2400" b="1" kern="1200" dirty="0">
                <a:solidFill>
                  <a:schemeClr val="tx2"/>
                </a:solidFill>
                <a:latin typeface="Arial" panose="020B0604020202020204" pitchFamily="34" charset="0"/>
                <a:cs typeface="Arial" panose="020B0604020202020204" pitchFamily="34" charset="0"/>
              </a:rPr>
              <a:t>Dataset / Input Data (if applicable)</a:t>
            </a:r>
          </a:p>
          <a:p>
            <a:pPr marL="446088" indent="-446088" algn="just">
              <a:spcBef>
                <a:spcPts val="0"/>
              </a:spcBef>
              <a:buNone/>
            </a:pPr>
            <a:r>
              <a:rPr lang="en-GB" sz="2400" b="1" dirty="0">
                <a:solidFill>
                  <a:schemeClr val="tx2"/>
                </a:solidFill>
              </a:rPr>
              <a:t>     </a:t>
            </a:r>
            <a:r>
              <a:rPr lang="en-US" sz="1400" dirty="0">
                <a:latin typeface="+mn-lt"/>
              </a:rPr>
              <a:t>Sensor readings such as heart rate, </a:t>
            </a:r>
            <a:r>
              <a:rPr lang="en-US" sz="1400" dirty="0" err="1">
                <a:latin typeface="+mn-lt"/>
              </a:rPr>
              <a:t>SpO</a:t>
            </a:r>
            <a:r>
              <a:rPr lang="en-US" sz="1400" dirty="0">
                <a:latin typeface="+mn-lt"/>
              </a:rPr>
              <a:t>₂, body temperature, humidity, gas levels, and movement are used as the input data.</a:t>
            </a:r>
          </a:p>
          <a:p>
            <a:pPr marL="185738" indent="-185738" algn="just">
              <a:spcBef>
                <a:spcPts val="600"/>
              </a:spcBef>
              <a:buNone/>
            </a:pPr>
            <a:r>
              <a:rPr lang="en-GB" sz="3000" b="1" kern="1200" dirty="0">
                <a:solidFill>
                  <a:schemeClr val="tx2"/>
                </a:solidFill>
                <a:latin typeface="Arial" panose="020B0604020202020204" pitchFamily="34" charset="0"/>
                <a:cs typeface="Arial" panose="020B0604020202020204" pitchFamily="34" charset="0"/>
              </a:rPr>
              <a:t>   </a:t>
            </a:r>
            <a:r>
              <a:rPr lang="en-GB" sz="2400" b="1" kern="1200" dirty="0">
                <a:solidFill>
                  <a:schemeClr val="tx2"/>
                </a:solidFill>
                <a:latin typeface="Arial" panose="020B0604020202020204" pitchFamily="34" charset="0"/>
                <a:cs typeface="Arial" panose="020B0604020202020204" pitchFamily="34" charset="0"/>
              </a:rPr>
              <a:t>Experimental Setup</a:t>
            </a:r>
          </a:p>
          <a:p>
            <a:pPr marL="274638" indent="-274638" algn="just">
              <a:buNone/>
            </a:pPr>
            <a:r>
              <a:rPr lang="en-US" sz="1400" dirty="0">
                <a:latin typeface="+mn-lt"/>
              </a:rPr>
              <a:t>     The ESP32 is connected to the MAX30102, MLX90614, MPU6050, DHT22, MQ-2, and PIR sensors to collect health and environmental data. The readings are displayed on an OLED and transmitted to </a:t>
            </a:r>
            <a:r>
              <a:rPr lang="en-US" sz="1400" dirty="0" err="1">
                <a:latin typeface="+mn-lt"/>
              </a:rPr>
              <a:t>Blynk</a:t>
            </a:r>
            <a:r>
              <a:rPr lang="en-US" sz="1400" dirty="0">
                <a:latin typeface="+mn-lt"/>
              </a:rPr>
              <a:t> IoT for remote monitoring, while the buzzer, LED, and SOS button provide emergency alerts..</a:t>
            </a:r>
            <a:endParaRPr lang="en-GB" sz="1400" dirty="0">
              <a:latin typeface="+mn-lt"/>
            </a:endParaRPr>
          </a:p>
          <a:p>
            <a:pPr marL="0" indent="0" algn="just">
              <a:buNone/>
            </a:pPr>
            <a:r>
              <a:rPr lang="en-GB" sz="3000" b="1" kern="1200" dirty="0">
                <a:solidFill>
                  <a:schemeClr val="tx2"/>
                </a:solidFill>
                <a:latin typeface="Arial" panose="020B0604020202020204" pitchFamily="34" charset="0"/>
                <a:cs typeface="Arial" panose="020B0604020202020204" pitchFamily="34" charset="0"/>
              </a:rPr>
              <a:t>   </a:t>
            </a:r>
            <a:r>
              <a:rPr lang="en-GB" sz="2400" b="1" kern="1200" dirty="0">
                <a:solidFill>
                  <a:schemeClr val="tx2"/>
                </a:solidFill>
                <a:latin typeface="Arial" panose="020B0604020202020204" pitchFamily="34" charset="0"/>
                <a:cs typeface="Arial" panose="020B0604020202020204" pitchFamily="34" charset="0"/>
              </a:rPr>
              <a:t>Results</a:t>
            </a:r>
          </a:p>
          <a:p>
            <a:pPr marL="446088" indent="-446088">
              <a:spcBef>
                <a:spcPts val="2600"/>
              </a:spcBef>
              <a:buNone/>
            </a:pPr>
            <a:endParaRPr lang="en-GB" sz="3000" b="1" dirty="0">
              <a:solidFill>
                <a:schemeClr val="tx2"/>
              </a:solidFill>
            </a:endParaRPr>
          </a:p>
          <a:p>
            <a:pPr marL="446088" indent="-446088">
              <a:spcBef>
                <a:spcPts val="2600"/>
              </a:spcBef>
              <a:buNone/>
            </a:pPr>
            <a:r>
              <a:rPr lang="en-GB" sz="3000" b="1" kern="1200" dirty="0">
                <a:solidFill>
                  <a:schemeClr val="tx2"/>
                </a:solidFill>
                <a:latin typeface="Arial" panose="020B0604020202020204" pitchFamily="34" charset="0"/>
                <a:cs typeface="Arial" panose="020B0604020202020204" pitchFamily="34" charset="0"/>
              </a:rPr>
              <a:t>   </a:t>
            </a:r>
          </a:p>
          <a:p>
            <a:pPr marL="446088" indent="-446088">
              <a:spcBef>
                <a:spcPts val="2600"/>
              </a:spcBef>
              <a:buNone/>
            </a:pPr>
            <a:r>
              <a:rPr lang="en-GB" sz="2400" b="1" kern="1200" dirty="0">
                <a:solidFill>
                  <a:schemeClr val="tx2"/>
                </a:solidFill>
                <a:latin typeface="Arial" panose="020B0604020202020204" pitchFamily="34" charset="0"/>
                <a:cs typeface="Arial" panose="020B0604020202020204" pitchFamily="34" charset="0"/>
              </a:rPr>
              <a:t>    Performance Evaluation</a:t>
            </a:r>
          </a:p>
          <a:p>
            <a:pPr>
              <a:spcBef>
                <a:spcPts val="700"/>
              </a:spcBef>
            </a:pPr>
            <a:endParaRPr lang="en-GB" sz="1000" dirty="0"/>
          </a:p>
          <a:p>
            <a:pPr>
              <a:spcBef>
                <a:spcPts val="700"/>
              </a:spcBef>
            </a:pPr>
            <a:endParaRPr lang="en-GB" sz="1000" dirty="0"/>
          </a:p>
          <a:p>
            <a:pPr>
              <a:spcBef>
                <a:spcPts val="700"/>
              </a:spcBef>
            </a:pPr>
            <a:endParaRPr lang="en-GB" sz="1000" dirty="0"/>
          </a:p>
          <a:p>
            <a:pPr>
              <a:spcBef>
                <a:spcPts val="700"/>
              </a:spcBef>
            </a:pPr>
            <a:endParaRPr lang="en-GB" sz="1000" dirty="0"/>
          </a:p>
          <a:p>
            <a:pPr marL="446088" indent="-446088">
              <a:spcBef>
                <a:spcPts val="2600"/>
              </a:spcBef>
              <a:buNone/>
            </a:pPr>
            <a:r>
              <a:rPr lang="en-GB" sz="3000" b="1" kern="1200" dirty="0">
                <a:solidFill>
                  <a:schemeClr val="tx2"/>
                </a:solidFill>
                <a:latin typeface="Arial" panose="020B0604020202020204" pitchFamily="34" charset="0"/>
                <a:cs typeface="Arial" panose="020B0604020202020204" pitchFamily="34" charset="0"/>
              </a:rPr>
              <a:t>   </a:t>
            </a:r>
          </a:p>
          <a:p>
            <a:pPr marL="446088" indent="-446088">
              <a:spcBef>
                <a:spcPts val="2600"/>
              </a:spcBef>
              <a:buNone/>
            </a:pPr>
            <a:r>
              <a:rPr lang="en-GB" sz="3000" b="1" dirty="0">
                <a:solidFill>
                  <a:schemeClr val="tx2"/>
                </a:solidFill>
              </a:rPr>
              <a:t>  </a:t>
            </a:r>
            <a:r>
              <a:rPr lang="en-GB" sz="2400" b="1" kern="1200" dirty="0">
                <a:solidFill>
                  <a:schemeClr val="tx2"/>
                </a:solidFill>
                <a:latin typeface="Arial" panose="020B0604020202020204" pitchFamily="34" charset="0"/>
                <a:cs typeface="Arial" panose="020B0604020202020204" pitchFamily="34" charset="0"/>
              </a:rPr>
              <a:t>Testing and Validation</a:t>
            </a:r>
          </a:p>
          <a:p>
            <a:pPr marL="274638" indent="-274638">
              <a:buNone/>
            </a:pPr>
            <a:r>
              <a:rPr lang="en-US" sz="1600" dirty="0"/>
              <a:t>     </a:t>
            </a:r>
            <a:r>
              <a:rPr lang="en-US" sz="1400" dirty="0"/>
              <a:t>The proposed system is tested by comparing sensor readings under normal and abnormal conditions. The   system successfully monitors health and environmental parameters, detects possible falls and emergencies, provides alerts, and transmits data to the </a:t>
            </a:r>
            <a:r>
              <a:rPr lang="en-US" sz="1400" dirty="0" err="1"/>
              <a:t>Blynk</a:t>
            </a:r>
            <a:r>
              <a:rPr lang="en-US" sz="1400" dirty="0"/>
              <a:t> IoT platform for remote monitoring</a:t>
            </a:r>
            <a:r>
              <a:rPr lang="en-US" sz="1600" dirty="0"/>
              <a:t>.</a:t>
            </a:r>
          </a:p>
          <a:p>
            <a:pPr marL="358775" indent="-358775" algn="just">
              <a:spcBef>
                <a:spcPts val="600"/>
              </a:spcBef>
              <a:buNone/>
            </a:pPr>
            <a:r>
              <a:rPr lang="en-GB" sz="2400" b="1" kern="1200" dirty="0">
                <a:solidFill>
                  <a:schemeClr val="tx2"/>
                </a:solidFill>
                <a:latin typeface="Arial" panose="020B0604020202020204" pitchFamily="34" charset="0"/>
                <a:cs typeface="Arial" panose="020B0604020202020204" pitchFamily="34" charset="0"/>
              </a:rPr>
              <a:t>    Challenges Encountered</a:t>
            </a:r>
          </a:p>
          <a:p>
            <a:pPr marL="714375" indent="-357375">
              <a:spcBef>
                <a:spcPts val="600"/>
              </a:spcBef>
              <a:buFont typeface="Arial" pitchFamily="34" charset="0"/>
              <a:buChar char="•"/>
            </a:pPr>
            <a:r>
              <a:rPr lang="en-GB" sz="1400" kern="1200" dirty="0"/>
              <a:t>Challenge 1: </a:t>
            </a:r>
            <a:r>
              <a:rPr lang="en-US" sz="1400" dirty="0"/>
              <a:t>Achieving accurate and reliable readings from multiple health and environmental sensors. </a:t>
            </a:r>
          </a:p>
          <a:p>
            <a:pPr marL="714375" indent="-357375">
              <a:spcBef>
                <a:spcPts val="600"/>
              </a:spcBef>
              <a:buFont typeface="Arial" pitchFamily="34" charset="0"/>
              <a:buChar char="•"/>
            </a:pPr>
            <a:r>
              <a:rPr lang="en-GB" sz="1400" kern="1200" dirty="0"/>
              <a:t>Challenge 2: </a:t>
            </a:r>
            <a:r>
              <a:rPr lang="en-US" sz="1400" dirty="0"/>
              <a:t>Detecting abnormal conditions and possible falls accurately while minimizing false alerts. </a:t>
            </a:r>
            <a:endParaRPr lang="en-GB" sz="1400" dirty="0"/>
          </a:p>
          <a:p>
            <a:pPr marL="357000" indent="0">
              <a:spcBef>
                <a:spcPts val="600"/>
              </a:spcBef>
              <a:buNone/>
            </a:pPr>
            <a:r>
              <a:rPr lang="en-GB" sz="2400" b="1" kern="1200" dirty="0">
                <a:solidFill>
                  <a:schemeClr val="tx2"/>
                </a:solidFill>
                <a:latin typeface="Arial" panose="020B0604020202020204" pitchFamily="34" charset="0"/>
                <a:cs typeface="Arial" panose="020B0604020202020204" pitchFamily="34" charset="0"/>
              </a:rPr>
              <a:t>Solutions Implemented</a:t>
            </a:r>
          </a:p>
          <a:p>
            <a:pPr marL="714375" indent="-357375">
              <a:spcBef>
                <a:spcPts val="600"/>
              </a:spcBef>
              <a:buFont typeface="Arial" pitchFamily="34" charset="0"/>
              <a:buChar char="•"/>
            </a:pPr>
            <a:r>
              <a:rPr lang="en-GB" sz="1400" kern="1200" dirty="0"/>
              <a:t>Solution 1: </a:t>
            </a:r>
            <a:r>
              <a:rPr lang="en-US" sz="1400" dirty="0"/>
              <a:t>Integrated multiple sensors with the ESP32 for reliable health and environmental monitoring.</a:t>
            </a:r>
            <a:r>
              <a:rPr lang="en-GB" sz="1400" kern="1200" dirty="0"/>
              <a:t>.</a:t>
            </a:r>
          </a:p>
          <a:p>
            <a:pPr marL="714375" indent="-357375">
              <a:spcBef>
                <a:spcPts val="600"/>
              </a:spcBef>
              <a:buFont typeface="Arial" pitchFamily="34" charset="0"/>
              <a:buChar char="•"/>
            </a:pPr>
            <a:r>
              <a:rPr lang="en-GB" sz="1400" kern="1200" dirty="0"/>
              <a:t>Solution 2: </a:t>
            </a:r>
            <a:r>
              <a:rPr lang="en-US" sz="1400" dirty="0"/>
              <a:t>Used </a:t>
            </a:r>
            <a:r>
              <a:rPr lang="en-US" sz="1400" dirty="0" err="1"/>
              <a:t>Blynk</a:t>
            </a:r>
            <a:r>
              <a:rPr lang="en-US" sz="1400" dirty="0"/>
              <a:t> IoT, buzzer, LED, and SOS button to provide remote monitoring and quick emergency alerts.</a:t>
            </a:r>
            <a:endParaRPr lang="en-GB" sz="1400" kern="1200" dirty="0"/>
          </a:p>
          <a:p>
            <a:pPr marL="357000" indent="0">
              <a:spcBef>
                <a:spcPts val="600"/>
              </a:spcBef>
              <a:buNone/>
            </a:pPr>
            <a:r>
              <a:rPr lang="en-GB" sz="2400" b="1" kern="1200" dirty="0">
                <a:solidFill>
                  <a:schemeClr val="tx2"/>
                </a:solidFill>
                <a:latin typeface="Arial" panose="020B0604020202020204" pitchFamily="34" charset="0"/>
                <a:cs typeface="Arial" panose="020B0604020202020204" pitchFamily="34" charset="0"/>
              </a:rPr>
              <a:t> Innovation / Novel Features</a:t>
            </a:r>
          </a:p>
          <a:p>
            <a:pPr marL="444500" indent="0">
              <a:spcBef>
                <a:spcPts val="600"/>
              </a:spcBef>
              <a:buNone/>
              <a:tabLst>
                <a:tab pos="444500" algn="l"/>
              </a:tabLst>
            </a:pPr>
            <a:r>
              <a:rPr lang="en-US" sz="1400" dirty="0"/>
              <a:t>Integrates health, environmental, and safety monitoring into a single IoT-based system, combining real-time sensor monitoring, fall and emergency detection, remote </a:t>
            </a:r>
            <a:r>
              <a:rPr lang="en-US" sz="1400" dirty="0" err="1"/>
              <a:t>Blynk</a:t>
            </a:r>
            <a:r>
              <a:rPr lang="en-US" sz="1400" dirty="0"/>
              <a:t> monitoring, SOS assistance, and automatic data logging for assisted living.</a:t>
            </a:r>
          </a:p>
          <a:p>
            <a:pPr marL="357000" indent="0">
              <a:spcBef>
                <a:spcPts val="600"/>
              </a:spcBef>
              <a:buNone/>
            </a:pPr>
            <a:r>
              <a:rPr lang="en-GB" sz="3000" b="1" dirty="0">
                <a:solidFill>
                  <a:schemeClr val="tx2"/>
                </a:solidFill>
              </a:rPr>
              <a:t> </a:t>
            </a:r>
            <a:r>
              <a:rPr lang="en-GB" sz="2400" b="1" kern="1200" dirty="0">
                <a:solidFill>
                  <a:schemeClr val="tx2"/>
                </a:solidFill>
                <a:latin typeface="Arial" panose="020B0604020202020204" pitchFamily="34" charset="0"/>
                <a:cs typeface="Arial" panose="020B0604020202020204" pitchFamily="34" charset="0"/>
              </a:rPr>
              <a:t>Applications</a:t>
            </a:r>
          </a:p>
          <a:p>
            <a:pPr marL="357000" indent="0">
              <a:spcBef>
                <a:spcPts val="600"/>
              </a:spcBef>
              <a:buNone/>
            </a:pPr>
            <a:endParaRPr lang="en-GB" sz="2400" b="1" kern="1200" dirty="0">
              <a:solidFill>
                <a:schemeClr val="tx2"/>
              </a:solidFill>
              <a:latin typeface="Arial" panose="020B0604020202020204" pitchFamily="34" charset="0"/>
              <a:cs typeface="Arial" panose="020B0604020202020204" pitchFamily="34" charset="0"/>
            </a:endParaRPr>
          </a:p>
          <a:p>
            <a:pPr marL="0" indent="444500">
              <a:buNone/>
            </a:pPr>
            <a:r>
              <a:rPr lang="en-GB" sz="2400" b="1" kern="1200" dirty="0">
                <a:solidFill>
                  <a:schemeClr val="tx2"/>
                </a:solidFill>
                <a:latin typeface="Arial" panose="020B0604020202020204" pitchFamily="34" charset="0"/>
                <a:cs typeface="Arial" panose="020B0604020202020204" pitchFamily="34" charset="0"/>
              </a:rPr>
              <a:t>Future Scope</a:t>
            </a:r>
          </a:p>
          <a:p>
            <a:pPr marL="358775" indent="-358775" algn="just">
              <a:spcBef>
                <a:spcPts val="600"/>
              </a:spcBef>
              <a:buNone/>
            </a:pPr>
            <a:r>
              <a:rPr lang="en-US" sz="1600" dirty="0"/>
              <a:t>      </a:t>
            </a:r>
            <a:r>
              <a:rPr lang="en-US" sz="1400" dirty="0"/>
              <a:t>The system can be further developed with AI-based health prediction, improved fall detection, mobile notifications, cloud-based long-term health records, and additional medical sensors for more accurate and intelligent remote healthcare monitoring.</a:t>
            </a:r>
            <a:r>
              <a:rPr lang="en-US" sz="1400" b="1" kern="1200" dirty="0">
                <a:solidFill>
                  <a:schemeClr val="tx2"/>
                </a:solidFill>
                <a:latin typeface="Arial" panose="020B0604020202020204" pitchFamily="34" charset="0"/>
                <a:cs typeface="Arial" panose="020B0604020202020204" pitchFamily="34" charset="0"/>
              </a:rPr>
              <a:t>      </a:t>
            </a:r>
          </a:p>
          <a:p>
            <a:pPr marL="358775" indent="-358775" algn="just">
              <a:spcBef>
                <a:spcPts val="600"/>
              </a:spcBef>
              <a:buNone/>
            </a:pPr>
            <a:r>
              <a:rPr lang="en-US" sz="1400" b="1" dirty="0">
                <a:solidFill>
                  <a:schemeClr val="tx2"/>
                </a:solidFill>
              </a:rPr>
              <a:t>       </a:t>
            </a:r>
            <a:r>
              <a:rPr lang="en-US" sz="1400" b="1" kern="1200" dirty="0">
                <a:solidFill>
                  <a:schemeClr val="tx2"/>
                </a:solidFill>
                <a:latin typeface="Arial" panose="020B0604020202020204" pitchFamily="34" charset="0"/>
                <a:cs typeface="Arial" panose="020B0604020202020204" pitchFamily="34" charset="0"/>
              </a:rPr>
              <a:t> </a:t>
            </a:r>
            <a:r>
              <a:rPr lang="en-GB" sz="2400" b="1" kern="1200" dirty="0">
                <a:solidFill>
                  <a:schemeClr val="tx2"/>
                </a:solidFill>
                <a:latin typeface="Arial" panose="020B0604020202020204" pitchFamily="34" charset="0"/>
                <a:cs typeface="Arial" panose="020B0604020202020204" pitchFamily="34" charset="0"/>
              </a:rPr>
              <a:t>Project Outcomes</a:t>
            </a:r>
          </a:p>
          <a:p>
            <a:pPr marL="358775" indent="-358775" algn="just">
              <a:lnSpc>
                <a:spcPct val="100000"/>
              </a:lnSpc>
              <a:spcBef>
                <a:spcPts val="600"/>
              </a:spcBef>
              <a:buNone/>
            </a:pPr>
            <a:r>
              <a:rPr lang="en-US" sz="1400" dirty="0"/>
              <a:t>       Provides an integrated platform for health, environmental, and safety monitoring, with remote access through </a:t>
            </a:r>
            <a:r>
              <a:rPr lang="en-US" sz="1400" dirty="0" err="1"/>
              <a:t>Blynk</a:t>
            </a:r>
            <a:r>
              <a:rPr lang="en-US" sz="1400" dirty="0"/>
              <a:t> IoT, emergency alerts, SOS assistance, and automatic data storage for future analysis.</a:t>
            </a:r>
            <a:endParaRPr lang="en-GB" sz="1400" b="1" dirty="0">
              <a:solidFill>
                <a:schemeClr val="tx2"/>
              </a:solidFill>
            </a:endParaRPr>
          </a:p>
          <a:p>
            <a:pPr marL="358775" indent="-358775" algn="just">
              <a:spcBef>
                <a:spcPts val="600"/>
              </a:spcBef>
              <a:buNone/>
            </a:pPr>
            <a:r>
              <a:rPr lang="en-GB" sz="2400" b="1" kern="1200" dirty="0">
                <a:solidFill>
                  <a:schemeClr val="tx2"/>
                </a:solidFill>
                <a:latin typeface="Arial" panose="020B0604020202020204" pitchFamily="34" charset="0"/>
                <a:cs typeface="Arial" panose="020B0604020202020204" pitchFamily="34" charset="0"/>
              </a:rPr>
              <a:t>    Skills Acquired</a:t>
            </a:r>
          </a:p>
          <a:p>
            <a:pPr marL="714375" indent="-357375">
              <a:spcBef>
                <a:spcPts val="600"/>
              </a:spcBef>
              <a:buFont typeface="Arial" pitchFamily="34" charset="0"/>
              <a:buChar char="•"/>
            </a:pPr>
            <a:r>
              <a:rPr lang="en-IN" sz="1400" b="1" dirty="0"/>
              <a:t>Technical skill 1: </a:t>
            </a:r>
            <a:r>
              <a:rPr lang="en-US" sz="1400" dirty="0"/>
              <a:t>ESP32 programming, sensor integration, IoT-based monitoring, fall detection, emergency alert systems, and Python-based data logging.</a:t>
            </a:r>
            <a:r>
              <a:rPr lang="en-IN" sz="1400" dirty="0"/>
              <a:t>.</a:t>
            </a:r>
            <a:endParaRPr lang="en-GB" sz="1400" kern="1200" dirty="0"/>
          </a:p>
          <a:p>
            <a:pPr marL="714375" indent="-357375">
              <a:spcBef>
                <a:spcPts val="600"/>
              </a:spcBef>
              <a:buFont typeface="Arial" pitchFamily="34" charset="0"/>
              <a:buChar char="•"/>
            </a:pPr>
            <a:r>
              <a:rPr lang="en-GB" sz="1400" b="1" kern="1200" dirty="0"/>
              <a:t>Soft skill 1: </a:t>
            </a:r>
            <a:r>
              <a:rPr lang="en-GB" sz="1400" kern="1200" dirty="0"/>
              <a:t>Problem Solving, Teamwork, Communication, and Practical Design Thinking</a:t>
            </a:r>
            <a:r>
              <a:rPr lang="en-GB" sz="1400" b="1" kern="1200" dirty="0"/>
              <a:t>.</a:t>
            </a:r>
          </a:p>
        </p:txBody>
      </p:sp>
      <p:sp>
        <p:nvSpPr>
          <p:cNvPr id="6" name="AutoShape 4" descr="System Architecture Diagram">
            <a:extLst>
              <a:ext uri="{FF2B5EF4-FFF2-40B4-BE49-F238E27FC236}">
                <a16:creationId xmlns:a16="http://schemas.microsoft.com/office/drawing/2014/main" id="{A6AC6A17-B006-4706-AC6C-FA7856873C7E}"/>
              </a:ext>
            </a:extLst>
          </p:cNvPr>
          <p:cNvSpPr>
            <a:spLocks noChangeAspect="1" noChangeArrowheads="1"/>
          </p:cNvSpPr>
          <p:nvPr/>
        </p:nvSpPr>
        <p:spPr bwMode="auto">
          <a:xfrm>
            <a:off x="10541000" y="1498758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62" name="Picture 2061" descr="qr.png"/>
          <p:cNvPicPr>
            <a:picLocks noChangeAspect="1"/>
          </p:cNvPicPr>
          <p:nvPr/>
        </p:nvPicPr>
        <p:blipFill>
          <a:blip r:embed="rId3"/>
          <a:stretch>
            <a:fillRect/>
          </a:stretch>
        </p:blipFill>
        <p:spPr>
          <a:xfrm>
            <a:off x="1140839" y="27410158"/>
            <a:ext cx="2239800" cy="2239800"/>
          </a:xfrm>
          <a:prstGeom prst="rect">
            <a:avLst/>
          </a:prstGeom>
        </p:spPr>
      </p:pic>
      <p:sp>
        <p:nvSpPr>
          <p:cNvPr id="3" name="Rectangle 2">
            <a:extLst>
              <a:ext uri="{FF2B5EF4-FFF2-40B4-BE49-F238E27FC236}">
                <a16:creationId xmlns:a16="http://schemas.microsoft.com/office/drawing/2014/main" id="{3DF4D48A-2538-4DAC-8552-59E8219A875D}"/>
              </a:ext>
            </a:extLst>
          </p:cNvPr>
          <p:cNvSpPr>
            <a:spLocks noChangeArrowheads="1"/>
          </p:cNvSpPr>
          <p:nvPr/>
        </p:nvSpPr>
        <p:spPr bwMode="auto">
          <a:xfrm>
            <a:off x="657640" y="11049590"/>
            <a:ext cx="782706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hangingPunct="0"/>
            <a:r>
              <a:rPr lang="en-US" sz="1400" dirty="0">
                <a:latin typeface="+mn-lt"/>
              </a:rPr>
              <a:t>To develop an ESP32-based system for health and safety monitoring.</a:t>
            </a:r>
            <a:endParaRPr kumimoji="0" lang="en-US" altLang="en-US" sz="1400" b="0" i="0" u="none" strike="noStrike" cap="none" normalizeH="0" baseline="0" dirty="0">
              <a:ln>
                <a:noFill/>
              </a:ln>
              <a:solidFill>
                <a:schemeClr val="tx1"/>
              </a:solidFill>
              <a:effectLst/>
              <a:latin typeface="+mn-lt"/>
            </a:endParaRPr>
          </a:p>
          <a:p>
            <a:pPr marR="0" lvl="0" algn="l" defTabSz="914400" rtl="0" eaLnBrk="0" fontAlgn="base" latinLnBrk="0" hangingPunct="0">
              <a:lnSpc>
                <a:spcPct val="100000"/>
              </a:lnSpc>
              <a:spcBef>
                <a:spcPct val="0"/>
              </a:spcBef>
              <a:spcAft>
                <a:spcPct val="0"/>
              </a:spcAft>
              <a:buClrTx/>
              <a:buSzTx/>
              <a:tabLst/>
            </a:pPr>
            <a:r>
              <a:rPr lang="en-US" altLang="en-US" sz="1400" dirty="0">
                <a:latin typeface="+mn-lt"/>
              </a:rPr>
              <a:t> </a:t>
            </a:r>
            <a:r>
              <a:rPr kumimoji="0" lang="en-US" altLang="en-US" sz="1400" b="0" i="0" u="none" strike="noStrike" cap="none" normalizeH="0" baseline="0" dirty="0">
                <a:ln>
                  <a:noFill/>
                </a:ln>
                <a:solidFill>
                  <a:schemeClr val="tx1"/>
                </a:solidFill>
                <a:effectLst/>
                <a:latin typeface="+mn-lt"/>
              </a:rPr>
              <a:t>To detect health abnormalities, falls, gas leakage, and environmental changes.</a:t>
            </a:r>
          </a:p>
          <a:p>
            <a:pPr marR="0" lvl="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mn-lt"/>
              </a:rPr>
              <a:t>To provide remote monitoring, emergency alerts, and automatic data logging. </a:t>
            </a:r>
          </a:p>
        </p:txBody>
      </p:sp>
      <p:sp>
        <p:nvSpPr>
          <p:cNvPr id="10" name="Rectangle 5">
            <a:extLst>
              <a:ext uri="{FF2B5EF4-FFF2-40B4-BE49-F238E27FC236}">
                <a16:creationId xmlns:a16="http://schemas.microsoft.com/office/drawing/2014/main" id="{01C53616-3809-4538-9A1B-3A0847CF0BC8}"/>
              </a:ext>
            </a:extLst>
          </p:cNvPr>
          <p:cNvSpPr>
            <a:spLocks noChangeArrowheads="1"/>
          </p:cNvSpPr>
          <p:nvPr/>
        </p:nvSpPr>
        <p:spPr bwMode="auto">
          <a:xfrm rot="10800000" flipV="1">
            <a:off x="541066" y="12244675"/>
            <a:ext cx="856426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mn-lt"/>
              </a:rPr>
              <a:t>Gain practical knowledge of ESP32, sensor interfacing, IoT monitoring, and emergency alert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mn-lt"/>
              </a:rPr>
              <a:t>Develop skills in Python-based data logging, CSV storage, testing, and sensor data analysis. </a:t>
            </a:r>
          </a:p>
        </p:txBody>
      </p:sp>
      <p:sp>
        <p:nvSpPr>
          <p:cNvPr id="13" name="Rectangle 8">
            <a:extLst>
              <a:ext uri="{FF2B5EF4-FFF2-40B4-BE49-F238E27FC236}">
                <a16:creationId xmlns:a16="http://schemas.microsoft.com/office/drawing/2014/main" id="{DCBBD14E-1CCF-44F0-ACD0-837140469478}"/>
              </a:ext>
            </a:extLst>
          </p:cNvPr>
          <p:cNvSpPr>
            <a:spLocks noChangeArrowheads="1"/>
          </p:cNvSpPr>
          <p:nvPr/>
        </p:nvSpPr>
        <p:spPr bwMode="auto">
          <a:xfrm>
            <a:off x="587825" y="24260819"/>
            <a:ext cx="10105575"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mn-lt"/>
              </a:rPr>
              <a:t>The system uses an ESP32 to collect health and environmental data from multiple sensors. The readings are displayed on an OLED and sent to the </a:t>
            </a:r>
            <a:r>
              <a:rPr kumimoji="0" lang="en-US" altLang="en-US" sz="1400" b="0" i="0" u="none" strike="noStrike" cap="none" normalizeH="0" baseline="0" dirty="0" err="1">
                <a:ln>
                  <a:noFill/>
                </a:ln>
                <a:solidFill>
                  <a:schemeClr val="tx1"/>
                </a:solidFill>
                <a:effectLst/>
                <a:latin typeface="+mn-lt"/>
              </a:rPr>
              <a:t>Blynk</a:t>
            </a:r>
            <a:r>
              <a:rPr kumimoji="0" lang="en-US" altLang="en-US" sz="1400" b="0" i="0" u="none" strike="noStrike" cap="none" normalizeH="0" baseline="0" dirty="0">
                <a:ln>
                  <a:noFill/>
                </a:ln>
                <a:solidFill>
                  <a:schemeClr val="tx1"/>
                </a:solidFill>
                <a:effectLst/>
                <a:latin typeface="+mn-lt"/>
              </a:rPr>
              <a:t> IoT platform for remote monitoring. Abnormal conditions trigger buzzer and LED alerts, while an SOS button provides emergency assistance. Python-based data logging stores the readings in CSV format for future analysis.</a:t>
            </a:r>
          </a:p>
        </p:txBody>
      </p:sp>
      <p:sp>
        <p:nvSpPr>
          <p:cNvPr id="18" name="Rectangle 11">
            <a:extLst>
              <a:ext uri="{FF2B5EF4-FFF2-40B4-BE49-F238E27FC236}">
                <a16:creationId xmlns:a16="http://schemas.microsoft.com/office/drawing/2014/main" id="{ED102134-C751-4D69-882E-514C927FA96A}"/>
              </a:ext>
            </a:extLst>
          </p:cNvPr>
          <p:cNvSpPr>
            <a:spLocks noChangeArrowheads="1"/>
          </p:cNvSpPr>
          <p:nvPr/>
        </p:nvSpPr>
        <p:spPr bwMode="auto">
          <a:xfrm>
            <a:off x="11334641" y="20421015"/>
            <a:ext cx="466831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  Elderly and Patient Monitoring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  Remote Healthcare and Assisted Living </a:t>
            </a:r>
          </a:p>
        </p:txBody>
      </p:sp>
      <p:pic>
        <p:nvPicPr>
          <p:cNvPr id="5" name="Picture 4">
            <a:extLst>
              <a:ext uri="{FF2B5EF4-FFF2-40B4-BE49-F238E27FC236}">
                <a16:creationId xmlns:a16="http://schemas.microsoft.com/office/drawing/2014/main" id="{F5F7E5A1-6F41-4871-99E6-0C6FBEC0D403}"/>
              </a:ext>
            </a:extLst>
          </p:cNvPr>
          <p:cNvPicPr>
            <a:picLocks noChangeAspect="1"/>
          </p:cNvPicPr>
          <p:nvPr/>
        </p:nvPicPr>
        <p:blipFill>
          <a:blip r:embed="rId4"/>
          <a:stretch>
            <a:fillRect/>
          </a:stretch>
        </p:blipFill>
        <p:spPr>
          <a:xfrm>
            <a:off x="1609242" y="15950098"/>
            <a:ext cx="4980496" cy="2835349"/>
          </a:xfrm>
          <a:prstGeom prst="rect">
            <a:avLst/>
          </a:prstGeom>
        </p:spPr>
      </p:pic>
      <p:pic>
        <p:nvPicPr>
          <p:cNvPr id="11" name="Picture 10">
            <a:extLst>
              <a:ext uri="{FF2B5EF4-FFF2-40B4-BE49-F238E27FC236}">
                <a16:creationId xmlns:a16="http://schemas.microsoft.com/office/drawing/2014/main" id="{71DD1D44-871D-442C-935F-47580969C55B}"/>
              </a:ext>
            </a:extLst>
          </p:cNvPr>
          <p:cNvPicPr>
            <a:picLocks noChangeAspect="1"/>
          </p:cNvPicPr>
          <p:nvPr/>
        </p:nvPicPr>
        <p:blipFill>
          <a:blip r:embed="rId5"/>
          <a:stretch>
            <a:fillRect/>
          </a:stretch>
        </p:blipFill>
        <p:spPr>
          <a:xfrm>
            <a:off x="1554008" y="19675574"/>
            <a:ext cx="4852808" cy="2829427"/>
          </a:xfrm>
          <a:prstGeom prst="rect">
            <a:avLst/>
          </a:prstGeom>
        </p:spPr>
      </p:pic>
      <p:pic>
        <p:nvPicPr>
          <p:cNvPr id="17" name="Picture 16">
            <a:extLst>
              <a:ext uri="{FF2B5EF4-FFF2-40B4-BE49-F238E27FC236}">
                <a16:creationId xmlns:a16="http://schemas.microsoft.com/office/drawing/2014/main" id="{2ABBDF1D-1A11-435D-93B1-EC08CE65D1F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206362" y="9379347"/>
            <a:ext cx="4176464" cy="2106195"/>
          </a:xfrm>
          <a:prstGeom prst="rect">
            <a:avLst/>
          </a:prstGeom>
        </p:spPr>
      </p:pic>
      <p:pic>
        <p:nvPicPr>
          <p:cNvPr id="20" name="Picture 19">
            <a:extLst>
              <a:ext uri="{FF2B5EF4-FFF2-40B4-BE49-F238E27FC236}">
                <a16:creationId xmlns:a16="http://schemas.microsoft.com/office/drawing/2014/main" id="{1EA0EFC6-11E2-4348-8AD4-8C55AFC8540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206362" y="12008091"/>
            <a:ext cx="4176464" cy="2238772"/>
          </a:xfrm>
          <a:prstGeom prst="rect">
            <a:avLst/>
          </a:prstGeom>
        </p:spPr>
      </p:pic>
    </p:spTree>
    <p:extLst>
      <p:ext uri="{BB962C8B-B14F-4D97-AF65-F5344CB8AC3E}">
        <p14:creationId xmlns:p14="http://schemas.microsoft.com/office/powerpoint/2010/main" val="3351423776"/>
      </p:ext>
    </p:extLst>
  </p:cSld>
  <p:clrMapOvr>
    <a:masterClrMapping/>
  </p:clrMapOvr>
</p:sld>
</file>

<file path=ppt/theme/theme1.xml><?xml version="1.0" encoding="utf-8"?>
<a:theme xmlns:a="http://schemas.openxmlformats.org/drawingml/2006/main" name="KIOT #CE4F2F">
  <a:themeElements>
    <a:clrScheme name="01 KIOT Conference #178473">
      <a:dk1>
        <a:srgbClr val="000000"/>
      </a:dk1>
      <a:lt1>
        <a:srgbClr val="FFFFFF"/>
      </a:lt1>
      <a:dk2>
        <a:srgbClr val="158473"/>
      </a:dk2>
      <a:lt2>
        <a:srgbClr val="808080"/>
      </a:lt2>
      <a:accent1>
        <a:srgbClr val="7AFDE9"/>
      </a:accent1>
      <a:accent2>
        <a:srgbClr val="5BD1BF"/>
      </a:accent2>
      <a:accent3>
        <a:srgbClr val="FFFFFF"/>
      </a:accent3>
      <a:accent4>
        <a:srgbClr val="086154"/>
      </a:accent4>
      <a:accent5>
        <a:srgbClr val="5BD1BF"/>
      </a:accent5>
      <a:accent6>
        <a:srgbClr val="000000"/>
      </a:accent6>
      <a:hlink>
        <a:srgbClr val="158473"/>
      </a:hlink>
      <a:folHlink>
        <a:srgbClr val="08615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txDef>
      <a:spPr bwMode="auto">
        <a:noFill/>
        <a:ln w="9525">
          <a:noFill/>
          <a:miter lim="800000"/>
          <a:headEnd/>
          <a:tailEnd/>
        </a:ln>
        <a:effectLst/>
      </a:spPr>
      <a:bodyPr lIns="0" tIns="0" rIns="0" bIns="0"/>
      <a:lstStyle>
        <a:defPPr marL="455613" indent="-455613" algn="l" defTabSz="2952750" eaLnBrk="0" hangingPunct="0">
          <a:lnSpc>
            <a:spcPct val="105000"/>
          </a:lnSpc>
          <a:spcBef>
            <a:spcPts val="4400"/>
          </a:spcBef>
          <a:spcAft>
            <a:spcPts val="0"/>
          </a:spcAft>
          <a:buClr>
            <a:schemeClr val="tx2"/>
          </a:buClr>
          <a:defRPr sz="4100" b="1" kern="0" dirty="0">
            <a:solidFill>
              <a:schemeClr val="tx2"/>
            </a:solidFill>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B27825 KIOT Conference 2022 portrait HT v2.pptx" id="{F18A0F39-BBEB-43DB-BFD6-81A744C52318}" vid="{8D687D27-B946-4FBA-8150-9F172FBFD3DC}"/>
    </a:ext>
  </a:extLst>
</a:theme>
</file>

<file path=ppt/theme/theme2.xml><?xml version="1.0" encoding="utf-8"?>
<a:theme xmlns:a="http://schemas.openxmlformats.org/drawingml/2006/main" name="1_KIOT #CE4F2F">
  <a:themeElements>
    <a:clrScheme name="02 KIOT Conference #E25C3A">
      <a:dk1>
        <a:srgbClr val="000000"/>
      </a:dk1>
      <a:lt1>
        <a:srgbClr val="FFFFFF"/>
      </a:lt1>
      <a:dk2>
        <a:srgbClr val="CE4F2F"/>
      </a:dk2>
      <a:lt2>
        <a:srgbClr val="808080"/>
      </a:lt2>
      <a:accent1>
        <a:srgbClr val="FEC5B6"/>
      </a:accent1>
      <a:accent2>
        <a:srgbClr val="F79E87"/>
      </a:accent2>
      <a:accent3>
        <a:srgbClr val="FFFFFF"/>
      </a:accent3>
      <a:accent4>
        <a:srgbClr val="A8361A"/>
      </a:accent4>
      <a:accent5>
        <a:srgbClr val="F79E87"/>
      </a:accent5>
      <a:accent6>
        <a:srgbClr val="000000"/>
      </a:accent6>
      <a:hlink>
        <a:srgbClr val="CE4F2F"/>
      </a:hlink>
      <a:folHlink>
        <a:srgbClr val="A8361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KIOT Conference 2022 portrait HT v2.pptx" id="{F18A0F39-BBEB-43DB-BFD6-81A744C52318}" vid="{DA16372C-C8AE-4BEF-9AB6-EF282675B510}"/>
    </a:ext>
  </a:extLst>
</a:theme>
</file>

<file path=ppt/theme/theme3.xml><?xml version="1.0" encoding="utf-8"?>
<a:theme xmlns:a="http://schemas.openxmlformats.org/drawingml/2006/main" name="KIOT #C74486">
  <a:themeElements>
    <a:clrScheme name="03 KIOT Conference #C74486">
      <a:dk1>
        <a:srgbClr val="000000"/>
      </a:dk1>
      <a:lt1>
        <a:srgbClr val="FFFFFF"/>
      </a:lt1>
      <a:dk2>
        <a:srgbClr val="C74486"/>
      </a:dk2>
      <a:lt2>
        <a:srgbClr val="808080"/>
      </a:lt2>
      <a:accent1>
        <a:srgbClr val="FCAAD3"/>
      </a:accent1>
      <a:accent2>
        <a:srgbClr val="DB8EB5"/>
      </a:accent2>
      <a:accent3>
        <a:srgbClr val="FFFFFF"/>
      </a:accent3>
      <a:accent4>
        <a:srgbClr val="810443"/>
      </a:accent4>
      <a:accent5>
        <a:srgbClr val="DB8EB5"/>
      </a:accent5>
      <a:accent6>
        <a:srgbClr val="000000"/>
      </a:accent6>
      <a:hlink>
        <a:srgbClr val="C74486"/>
      </a:hlink>
      <a:folHlink>
        <a:srgbClr val="81044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KIOT Conference 2022 portrait HT v2.pptx" id="{F18A0F39-BBEB-43DB-BFD6-81A744C52318}" vid="{EDDCA094-D80C-4D1A-9F56-52CCF7C6B5E1}"/>
    </a:ext>
  </a:extLst>
</a:theme>
</file>

<file path=ppt/theme/theme4.xml><?xml version="1.0" encoding="utf-8"?>
<a:theme xmlns:a="http://schemas.openxmlformats.org/drawingml/2006/main" name="KIOT #7F6BAE">
  <a:themeElements>
    <a:clrScheme name="04 KIOT Conference #7F6BAE">
      <a:dk1>
        <a:srgbClr val="000000"/>
      </a:dk1>
      <a:lt1>
        <a:srgbClr val="FFFFFF"/>
      </a:lt1>
      <a:dk2>
        <a:srgbClr val="7F6BAE"/>
      </a:dk2>
      <a:lt2>
        <a:srgbClr val="808080"/>
      </a:lt2>
      <a:accent1>
        <a:srgbClr val="D2C4F2"/>
      </a:accent1>
      <a:accent2>
        <a:srgbClr val="B6A4E0"/>
      </a:accent2>
      <a:accent3>
        <a:srgbClr val="FFFFFF"/>
      </a:accent3>
      <a:accent4>
        <a:srgbClr val="4D3E70"/>
      </a:accent4>
      <a:accent5>
        <a:srgbClr val="B6A4E0"/>
      </a:accent5>
      <a:accent6>
        <a:srgbClr val="000000"/>
      </a:accent6>
      <a:hlink>
        <a:srgbClr val="7F6BAE"/>
      </a:hlink>
      <a:folHlink>
        <a:srgbClr val="4D3E7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KIOT Conference 2022 portrait HT v2.pptx" id="{F18A0F39-BBEB-43DB-BFD6-81A744C52318}" vid="{52FD576F-A30F-42C3-B3D4-FC5E4D78EA82}"/>
    </a:ext>
  </a:extLst>
</a:theme>
</file>

<file path=ppt/theme/theme5.xml><?xml version="1.0" encoding="utf-8"?>
<a:theme xmlns:a="http://schemas.openxmlformats.org/drawingml/2006/main" name="KIOT #6F7D14">
  <a:themeElements>
    <a:clrScheme name="05 KIOT Conference #6F7D14">
      <a:dk1>
        <a:srgbClr val="000000"/>
      </a:dk1>
      <a:lt1>
        <a:srgbClr val="FFFFFF"/>
      </a:lt1>
      <a:dk2>
        <a:srgbClr val="6F7D14"/>
      </a:dk2>
      <a:lt2>
        <a:srgbClr val="808080"/>
      </a:lt2>
      <a:accent1>
        <a:srgbClr val="BDCC5A"/>
      </a:accent1>
      <a:accent2>
        <a:srgbClr val="9DAE32"/>
      </a:accent2>
      <a:accent3>
        <a:srgbClr val="FFFFFF"/>
      </a:accent3>
      <a:accent4>
        <a:srgbClr val="444E02"/>
      </a:accent4>
      <a:accent5>
        <a:srgbClr val="BDCC5A"/>
      </a:accent5>
      <a:accent6>
        <a:srgbClr val="000000"/>
      </a:accent6>
      <a:hlink>
        <a:srgbClr val="6F7D14"/>
      </a:hlink>
      <a:folHlink>
        <a:srgbClr val="444E0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KIOT Conference 2022 portrait HT v2.pptx" id="{F18A0F39-BBEB-43DB-BFD6-81A744C52318}" vid="{AF9CF2F7-CEBC-4757-A562-538A8568A1B6}"/>
    </a:ext>
  </a:extLst>
</a:theme>
</file>

<file path=ppt/theme/theme6.xml><?xml version="1.0" encoding="utf-8"?>
<a:theme xmlns:a="http://schemas.openxmlformats.org/drawingml/2006/main" name="1_KIOT conference poster portrait">
  <a:themeElements>
    <a:clrScheme name="06 KIOT Conference #2B7DAE">
      <a:dk1>
        <a:srgbClr val="000000"/>
      </a:dk1>
      <a:lt1>
        <a:srgbClr val="FFFFFF"/>
      </a:lt1>
      <a:dk2>
        <a:srgbClr val="2B7DAE"/>
      </a:dk2>
      <a:lt2>
        <a:srgbClr val="808080"/>
      </a:lt2>
      <a:accent1>
        <a:srgbClr val="7CCDFD"/>
      </a:accent1>
      <a:accent2>
        <a:srgbClr val="62B4E7"/>
      </a:accent2>
      <a:accent3>
        <a:srgbClr val="FFFFFF"/>
      </a:accent3>
      <a:accent4>
        <a:srgbClr val="114E72"/>
      </a:accent4>
      <a:accent5>
        <a:srgbClr val="7CCDFD"/>
      </a:accent5>
      <a:accent6>
        <a:srgbClr val="000000"/>
      </a:accent6>
      <a:hlink>
        <a:srgbClr val="2B7DAE"/>
      </a:hlink>
      <a:folHlink>
        <a:srgbClr val="114E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KIOT Conference 2022 portrait HT v2.pptx" id="{F18A0F39-BBEB-43DB-BFD6-81A744C52318}" vid="{1757E75D-6B58-43A6-AFC1-7824D5CC8EBB}"/>
    </a:ext>
  </a:ext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KIOT_PBL_Poster_Template</Template>
  <TotalTime>462</TotalTime>
  <Words>1092</Words>
  <Application>Microsoft Office PowerPoint</Application>
  <PresentationFormat>Custom</PresentationFormat>
  <Paragraphs>93</Paragraphs>
  <Slides>1</Slides>
  <Notes>1</Notes>
  <HiddenSlides>0</HiddenSlides>
  <MMClips>0</MMClips>
  <ScaleCrop>false</ScaleCrop>
  <HeadingPairs>
    <vt:vector size="6" baseType="variant">
      <vt:variant>
        <vt:lpstr>Fonts Used</vt:lpstr>
      </vt:variant>
      <vt:variant>
        <vt:i4>2</vt:i4>
      </vt:variant>
      <vt:variant>
        <vt:lpstr>Theme</vt:lpstr>
      </vt:variant>
      <vt:variant>
        <vt:i4>6</vt:i4>
      </vt:variant>
      <vt:variant>
        <vt:lpstr>Slide Titles</vt:lpstr>
      </vt:variant>
      <vt:variant>
        <vt:i4>1</vt:i4>
      </vt:variant>
    </vt:vector>
  </HeadingPairs>
  <TitlesOfParts>
    <vt:vector size="9" baseType="lpstr">
      <vt:lpstr>Arial</vt:lpstr>
      <vt:lpstr>Rdg Vesta</vt:lpstr>
      <vt:lpstr>KIOT #CE4F2F</vt:lpstr>
      <vt:lpstr>1_KIOT #CE4F2F</vt:lpstr>
      <vt:lpstr>KIOT #C74486</vt:lpstr>
      <vt:lpstr>KIOT #7F6BAE</vt:lpstr>
      <vt:lpstr>KIOT #6F7D14</vt:lpstr>
      <vt:lpstr>1_KIOT conference poster portrait</vt:lpstr>
      <vt:lpstr>INTELLIGENT REMOTE HEALTHCARE AND ASSISTED LIVING ECOSYSTEM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PASSIVE COOLING SYSTEM FOR HOMES</dc:title>
  <dc:subject>Research and conference poster</dc:subject>
  <dc:creator>Shanmugam sivaraman</dc:creator>
  <cp:lastModifiedBy>HP</cp:lastModifiedBy>
  <cp:revision>43</cp:revision>
  <dcterms:created xsi:type="dcterms:W3CDTF">2026-07-26T14:23:05Z</dcterms:created>
  <dcterms:modified xsi:type="dcterms:W3CDTF">2026-09-04T17:45:02Z</dcterms:modified>
</cp:coreProperties>
</file>